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80" d="100"/>
          <a:sy n="80" d="100"/>
        </p:scale>
        <p:origin x="123" y="3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aniela Avayu Zaliasnik" userId="9c27548f-6c4b-4161-bdb9-08ba1fd3ef5b" providerId="ADAL" clId="{42E25D42-D604-47A2-96A3-5D3B4D275292}"/>
    <pc:docChg chg="custSel mod modSld modMainMaster">
      <pc:chgData name="Daniela Avayu Zaliasnik" userId="9c27548f-6c4b-4161-bdb9-08ba1fd3ef5b" providerId="ADAL" clId="{42E25D42-D604-47A2-96A3-5D3B4D275292}" dt="2026-09-13T00:02:38.945" v="150" actId="20577"/>
      <pc:docMkLst>
        <pc:docMk/>
      </pc:docMkLst>
      <pc:sldChg chg="modSp mod">
        <pc:chgData name="Daniela Avayu Zaliasnik" userId="9c27548f-6c4b-4161-bdb9-08ba1fd3ef5b" providerId="ADAL" clId="{42E25D42-D604-47A2-96A3-5D3B4D275292}" dt="2026-09-12T22:52:47.976" v="30" actId="20577"/>
        <pc:sldMkLst>
          <pc:docMk/>
          <pc:sldMk cId="0" sldId="256"/>
        </pc:sldMkLst>
        <pc:spChg chg="mod">
          <ac:chgData name="Daniela Avayu Zaliasnik" userId="9c27548f-6c4b-4161-bdb9-08ba1fd3ef5b" providerId="ADAL" clId="{42E25D42-D604-47A2-96A3-5D3B4D275292}" dt="2026-09-12T22:52:47.976" v="30" actId="20577"/>
          <ac:spMkLst>
            <pc:docMk/>
            <pc:sldMk cId="0" sldId="256"/>
            <ac:spMk id="6" creationId="{00000000-0000-0000-0000-000000000000}"/>
          </ac:spMkLst>
        </pc:spChg>
      </pc:sldChg>
      <pc:sldChg chg="modSp mod">
        <pc:chgData name="Daniela Avayu Zaliasnik" userId="9c27548f-6c4b-4161-bdb9-08ba1fd3ef5b" providerId="ADAL" clId="{42E25D42-D604-47A2-96A3-5D3B4D275292}" dt="2026-09-13T00:02:07.572" v="122" actId="20577"/>
        <pc:sldMkLst>
          <pc:docMk/>
          <pc:sldMk cId="0" sldId="257"/>
        </pc:sldMkLst>
        <pc:spChg chg="mod">
          <ac:chgData name="Daniela Avayu Zaliasnik" userId="9c27548f-6c4b-4161-bdb9-08ba1fd3ef5b" providerId="ADAL" clId="{42E25D42-D604-47A2-96A3-5D3B4D275292}" dt="2026-09-13T00:02:07.572" v="122" actId="20577"/>
          <ac:spMkLst>
            <pc:docMk/>
            <pc:sldMk cId="0" sldId="257"/>
            <ac:spMk id="2" creationId="{00000000-0000-0000-0000-000000000000}"/>
          </ac:spMkLst>
        </pc:spChg>
        <pc:spChg chg="mod">
          <ac:chgData name="Daniela Avayu Zaliasnik" userId="9c27548f-6c4b-4161-bdb9-08ba1fd3ef5b" providerId="ADAL" clId="{42E25D42-D604-47A2-96A3-5D3B4D275292}" dt="2026-09-12T23:53:44.186" v="37" actId="1035"/>
          <ac:spMkLst>
            <pc:docMk/>
            <pc:sldMk cId="0" sldId="257"/>
            <ac:spMk id="10" creationId="{00000000-0000-0000-0000-000000000000}"/>
          </ac:spMkLst>
        </pc:spChg>
        <pc:spChg chg="mod">
          <ac:chgData name="Daniela Avayu Zaliasnik" userId="9c27548f-6c4b-4161-bdb9-08ba1fd3ef5b" providerId="ADAL" clId="{42E25D42-D604-47A2-96A3-5D3B4D275292}" dt="2026-09-12T23:53:56.981" v="42" actId="1035"/>
          <ac:spMkLst>
            <pc:docMk/>
            <pc:sldMk cId="0" sldId="257"/>
            <ac:spMk id="15" creationId="{00000000-0000-0000-0000-000000000000}"/>
          </ac:spMkLst>
        </pc:spChg>
        <pc:spChg chg="mod">
          <ac:chgData name="Daniela Avayu Zaliasnik" userId="9c27548f-6c4b-4161-bdb9-08ba1fd3ef5b" providerId="ADAL" clId="{42E25D42-D604-47A2-96A3-5D3B4D275292}" dt="2026-09-12T23:54:06.462" v="49" actId="1035"/>
          <ac:spMkLst>
            <pc:docMk/>
            <pc:sldMk cId="0" sldId="257"/>
            <ac:spMk id="20" creationId="{00000000-0000-0000-0000-000000000000}"/>
          </ac:spMkLst>
        </pc:spChg>
        <pc:spChg chg="mod">
          <ac:chgData name="Daniela Avayu Zaliasnik" userId="9c27548f-6c4b-4161-bdb9-08ba1fd3ef5b" providerId="ADAL" clId="{42E25D42-D604-47A2-96A3-5D3B4D275292}" dt="2026-09-12T23:54:14.215" v="53" actId="1035"/>
          <ac:spMkLst>
            <pc:docMk/>
            <pc:sldMk cId="0" sldId="257"/>
            <ac:spMk id="25" creationId="{00000000-0000-0000-0000-000000000000}"/>
          </ac:spMkLst>
        </pc:spChg>
      </pc:sldChg>
      <pc:sldChg chg="delSp modSp mod">
        <pc:chgData name="Daniela Avayu Zaliasnik" userId="9c27548f-6c4b-4161-bdb9-08ba1fd3ef5b" providerId="ADAL" clId="{42E25D42-D604-47A2-96A3-5D3B4D275292}" dt="2026-09-13T00:02:10.376" v="125" actId="20577"/>
        <pc:sldMkLst>
          <pc:docMk/>
          <pc:sldMk cId="0" sldId="258"/>
        </pc:sldMkLst>
        <pc:spChg chg="mod">
          <ac:chgData name="Daniela Avayu Zaliasnik" userId="9c27548f-6c4b-4161-bdb9-08ba1fd3ef5b" providerId="ADAL" clId="{42E25D42-D604-47A2-96A3-5D3B4D275292}" dt="2026-09-13T00:02:10.376" v="125" actId="20577"/>
          <ac:spMkLst>
            <pc:docMk/>
            <pc:sldMk cId="0" sldId="258"/>
            <ac:spMk id="2" creationId="{00000000-0000-0000-0000-000000000000}"/>
          </ac:spMkLst>
        </pc:spChg>
        <pc:spChg chg="del">
          <ac:chgData name="Daniela Avayu Zaliasnik" userId="9c27548f-6c4b-4161-bdb9-08ba1fd3ef5b" providerId="ADAL" clId="{42E25D42-D604-47A2-96A3-5D3B4D275292}" dt="2026-09-12T22:51:56.388" v="1" actId="478"/>
          <ac:spMkLst>
            <pc:docMk/>
            <pc:sldMk cId="0" sldId="258"/>
            <ac:spMk id="21" creationId="{00000000-0000-0000-0000-000000000000}"/>
          </ac:spMkLst>
        </pc:spChg>
        <pc:spChg chg="del">
          <ac:chgData name="Daniela Avayu Zaliasnik" userId="9c27548f-6c4b-4161-bdb9-08ba1fd3ef5b" providerId="ADAL" clId="{42E25D42-D604-47A2-96A3-5D3B4D275292}" dt="2026-09-12T22:51:53.459" v="0" actId="478"/>
          <ac:spMkLst>
            <pc:docMk/>
            <pc:sldMk cId="0" sldId="258"/>
            <ac:spMk id="22" creationId="{00000000-0000-0000-0000-000000000000}"/>
          </ac:spMkLst>
        </pc:spChg>
        <pc:spChg chg="del">
          <ac:chgData name="Daniela Avayu Zaliasnik" userId="9c27548f-6c4b-4161-bdb9-08ba1fd3ef5b" providerId="ADAL" clId="{42E25D42-D604-47A2-96A3-5D3B4D275292}" dt="2026-09-12T22:51:53.459" v="0" actId="478"/>
          <ac:spMkLst>
            <pc:docMk/>
            <pc:sldMk cId="0" sldId="258"/>
            <ac:spMk id="23" creationId="{00000000-0000-0000-0000-000000000000}"/>
          </ac:spMkLst>
        </pc:spChg>
        <pc:spChg chg="del">
          <ac:chgData name="Daniela Avayu Zaliasnik" userId="9c27548f-6c4b-4161-bdb9-08ba1fd3ef5b" providerId="ADAL" clId="{42E25D42-D604-47A2-96A3-5D3B4D275292}" dt="2026-09-12T22:51:53.459" v="0" actId="478"/>
          <ac:spMkLst>
            <pc:docMk/>
            <pc:sldMk cId="0" sldId="258"/>
            <ac:spMk id="24" creationId="{00000000-0000-0000-0000-000000000000}"/>
          </ac:spMkLst>
        </pc:spChg>
        <pc:spChg chg="del">
          <ac:chgData name="Daniela Avayu Zaliasnik" userId="9c27548f-6c4b-4161-bdb9-08ba1fd3ef5b" providerId="ADAL" clId="{42E25D42-D604-47A2-96A3-5D3B4D275292}" dt="2026-09-12T22:51:53.459" v="0" actId="478"/>
          <ac:spMkLst>
            <pc:docMk/>
            <pc:sldMk cId="0" sldId="258"/>
            <ac:spMk id="25" creationId="{00000000-0000-0000-0000-000000000000}"/>
          </ac:spMkLst>
        </pc:spChg>
        <pc:spChg chg="del">
          <ac:chgData name="Daniela Avayu Zaliasnik" userId="9c27548f-6c4b-4161-bdb9-08ba1fd3ef5b" providerId="ADAL" clId="{42E25D42-D604-47A2-96A3-5D3B4D275292}" dt="2026-09-12T22:51:53.459" v="0" actId="478"/>
          <ac:spMkLst>
            <pc:docMk/>
            <pc:sldMk cId="0" sldId="258"/>
            <ac:spMk id="26" creationId="{00000000-0000-0000-0000-000000000000}"/>
          </ac:spMkLst>
        </pc:spChg>
        <pc:spChg chg="del">
          <ac:chgData name="Daniela Avayu Zaliasnik" userId="9c27548f-6c4b-4161-bdb9-08ba1fd3ef5b" providerId="ADAL" clId="{42E25D42-D604-47A2-96A3-5D3B4D275292}" dt="2026-09-12T22:51:53.459" v="0" actId="478"/>
          <ac:spMkLst>
            <pc:docMk/>
            <pc:sldMk cId="0" sldId="258"/>
            <ac:spMk id="27" creationId="{00000000-0000-0000-0000-000000000000}"/>
          </ac:spMkLst>
        </pc:spChg>
        <pc:spChg chg="del">
          <ac:chgData name="Daniela Avayu Zaliasnik" userId="9c27548f-6c4b-4161-bdb9-08ba1fd3ef5b" providerId="ADAL" clId="{42E25D42-D604-47A2-96A3-5D3B4D275292}" dt="2026-09-12T22:51:53.459" v="0" actId="478"/>
          <ac:spMkLst>
            <pc:docMk/>
            <pc:sldMk cId="0" sldId="258"/>
            <ac:spMk id="28" creationId="{00000000-0000-0000-0000-000000000000}"/>
          </ac:spMkLst>
        </pc:spChg>
        <pc:spChg chg="del">
          <ac:chgData name="Daniela Avayu Zaliasnik" userId="9c27548f-6c4b-4161-bdb9-08ba1fd3ef5b" providerId="ADAL" clId="{42E25D42-D604-47A2-96A3-5D3B4D275292}" dt="2026-09-12T22:51:53.459" v="0" actId="478"/>
          <ac:spMkLst>
            <pc:docMk/>
            <pc:sldMk cId="0" sldId="258"/>
            <ac:spMk id="29" creationId="{00000000-0000-0000-0000-000000000000}"/>
          </ac:spMkLst>
        </pc:spChg>
        <pc:spChg chg="mod">
          <ac:chgData name="Daniela Avayu Zaliasnik" userId="9c27548f-6c4b-4161-bdb9-08ba1fd3ef5b" providerId="ADAL" clId="{42E25D42-D604-47A2-96A3-5D3B4D275292}" dt="2026-09-12T22:52:02.234" v="2" actId="1076"/>
          <ac:spMkLst>
            <pc:docMk/>
            <pc:sldMk cId="0" sldId="258"/>
            <ac:spMk id="30" creationId="{00000000-0000-0000-0000-000000000000}"/>
          </ac:spMkLst>
        </pc:spChg>
      </pc:sldChg>
      <pc:sldChg chg="modSp mod">
        <pc:chgData name="Daniela Avayu Zaliasnik" userId="9c27548f-6c4b-4161-bdb9-08ba1fd3ef5b" providerId="ADAL" clId="{42E25D42-D604-47A2-96A3-5D3B4D275292}" dt="2026-09-13T00:02:12.980" v="128" actId="20577"/>
        <pc:sldMkLst>
          <pc:docMk/>
          <pc:sldMk cId="0" sldId="259"/>
        </pc:sldMkLst>
        <pc:spChg chg="mod">
          <ac:chgData name="Daniela Avayu Zaliasnik" userId="9c27548f-6c4b-4161-bdb9-08ba1fd3ef5b" providerId="ADAL" clId="{42E25D42-D604-47A2-96A3-5D3B4D275292}" dt="2026-09-13T00:02:12.980" v="128" actId="20577"/>
          <ac:spMkLst>
            <pc:docMk/>
            <pc:sldMk cId="0" sldId="259"/>
            <ac:spMk id="2" creationId="{00000000-0000-0000-0000-000000000000}"/>
          </ac:spMkLst>
        </pc:spChg>
        <pc:spChg chg="mod">
          <ac:chgData name="Daniela Avayu Zaliasnik" userId="9c27548f-6c4b-4161-bdb9-08ba1fd3ef5b" providerId="ADAL" clId="{42E25D42-D604-47A2-96A3-5D3B4D275292}" dt="2026-09-12T23:56:27.508" v="63" actId="20577"/>
          <ac:spMkLst>
            <pc:docMk/>
            <pc:sldMk cId="0" sldId="259"/>
            <ac:spMk id="27" creationId="{00000000-0000-0000-0000-000000000000}"/>
          </ac:spMkLst>
        </pc:spChg>
        <pc:spChg chg="mod">
          <ac:chgData name="Daniela Avayu Zaliasnik" userId="9c27548f-6c4b-4161-bdb9-08ba1fd3ef5b" providerId="ADAL" clId="{42E25D42-D604-47A2-96A3-5D3B4D275292}" dt="2026-09-12T22:52:13.839" v="5" actId="14100"/>
          <ac:spMkLst>
            <pc:docMk/>
            <pc:sldMk cId="0" sldId="259"/>
            <ac:spMk id="30" creationId="{00000000-0000-0000-0000-000000000000}"/>
          </ac:spMkLst>
        </pc:spChg>
        <pc:spChg chg="mod">
          <ac:chgData name="Daniela Avayu Zaliasnik" userId="9c27548f-6c4b-4161-bdb9-08ba1fd3ef5b" providerId="ADAL" clId="{42E25D42-D604-47A2-96A3-5D3B4D275292}" dt="2026-09-12T22:52:13.839" v="5" actId="14100"/>
          <ac:spMkLst>
            <pc:docMk/>
            <pc:sldMk cId="0" sldId="259"/>
            <ac:spMk id="32" creationId="{00000000-0000-0000-0000-000000000000}"/>
          </ac:spMkLst>
        </pc:spChg>
        <pc:spChg chg="mod">
          <ac:chgData name="Daniela Avayu Zaliasnik" userId="9c27548f-6c4b-4161-bdb9-08ba1fd3ef5b" providerId="ADAL" clId="{42E25D42-D604-47A2-96A3-5D3B4D275292}" dt="2026-09-12T22:52:13.839" v="5" actId="14100"/>
          <ac:spMkLst>
            <pc:docMk/>
            <pc:sldMk cId="0" sldId="259"/>
            <ac:spMk id="34" creationId="{00000000-0000-0000-0000-000000000000}"/>
          </ac:spMkLst>
        </pc:spChg>
      </pc:sldChg>
      <pc:sldChg chg="delSp modSp mod">
        <pc:chgData name="Daniela Avayu Zaliasnik" userId="9c27548f-6c4b-4161-bdb9-08ba1fd3ef5b" providerId="ADAL" clId="{42E25D42-D604-47A2-96A3-5D3B4D275292}" dt="2026-09-13T00:02:15.773" v="131" actId="20577"/>
        <pc:sldMkLst>
          <pc:docMk/>
          <pc:sldMk cId="0" sldId="260"/>
        </pc:sldMkLst>
        <pc:spChg chg="mod">
          <ac:chgData name="Daniela Avayu Zaliasnik" userId="9c27548f-6c4b-4161-bdb9-08ba1fd3ef5b" providerId="ADAL" clId="{42E25D42-D604-47A2-96A3-5D3B4D275292}" dt="2026-09-13T00:02:15.773" v="131" actId="20577"/>
          <ac:spMkLst>
            <pc:docMk/>
            <pc:sldMk cId="0" sldId="260"/>
            <ac:spMk id="2" creationId="{00000000-0000-0000-0000-000000000000}"/>
          </ac:spMkLst>
        </pc:spChg>
        <pc:spChg chg="mod">
          <ac:chgData name="Daniela Avayu Zaliasnik" userId="9c27548f-6c4b-4161-bdb9-08ba1fd3ef5b" providerId="ADAL" clId="{42E25D42-D604-47A2-96A3-5D3B4D275292}" dt="2026-09-12T23:57:38.077" v="107" actId="20577"/>
          <ac:spMkLst>
            <pc:docMk/>
            <pc:sldMk cId="0" sldId="260"/>
            <ac:spMk id="10" creationId="{00000000-0000-0000-0000-000000000000}"/>
          </ac:spMkLst>
        </pc:spChg>
        <pc:spChg chg="del">
          <ac:chgData name="Daniela Avayu Zaliasnik" userId="9c27548f-6c4b-4161-bdb9-08ba1fd3ef5b" providerId="ADAL" clId="{42E25D42-D604-47A2-96A3-5D3B4D275292}" dt="2026-09-12T23:57:54.928" v="108" actId="478"/>
          <ac:spMkLst>
            <pc:docMk/>
            <pc:sldMk cId="0" sldId="260"/>
            <ac:spMk id="24" creationId="{00000000-0000-0000-0000-000000000000}"/>
          </ac:spMkLst>
        </pc:spChg>
      </pc:sldChg>
      <pc:sldChg chg="modSp mod">
        <pc:chgData name="Daniela Avayu Zaliasnik" userId="9c27548f-6c4b-4161-bdb9-08ba1fd3ef5b" providerId="ADAL" clId="{42E25D42-D604-47A2-96A3-5D3B4D275292}" dt="2026-09-13T00:02:19.614" v="134" actId="20577"/>
        <pc:sldMkLst>
          <pc:docMk/>
          <pc:sldMk cId="0" sldId="261"/>
        </pc:sldMkLst>
        <pc:spChg chg="mod">
          <ac:chgData name="Daniela Avayu Zaliasnik" userId="9c27548f-6c4b-4161-bdb9-08ba1fd3ef5b" providerId="ADAL" clId="{42E25D42-D604-47A2-96A3-5D3B4D275292}" dt="2026-09-13T00:02:19.614" v="134" actId="20577"/>
          <ac:spMkLst>
            <pc:docMk/>
            <pc:sldMk cId="0" sldId="261"/>
            <ac:spMk id="2" creationId="{00000000-0000-0000-0000-000000000000}"/>
          </ac:spMkLst>
        </pc:spChg>
      </pc:sldChg>
      <pc:sldChg chg="modSp mod">
        <pc:chgData name="Daniela Avayu Zaliasnik" userId="9c27548f-6c4b-4161-bdb9-08ba1fd3ef5b" providerId="ADAL" clId="{42E25D42-D604-47A2-96A3-5D3B4D275292}" dt="2026-09-13T00:02:22.712" v="137" actId="20577"/>
        <pc:sldMkLst>
          <pc:docMk/>
          <pc:sldMk cId="0" sldId="262"/>
        </pc:sldMkLst>
        <pc:spChg chg="mod">
          <ac:chgData name="Daniela Avayu Zaliasnik" userId="9c27548f-6c4b-4161-bdb9-08ba1fd3ef5b" providerId="ADAL" clId="{42E25D42-D604-47A2-96A3-5D3B4D275292}" dt="2026-09-13T00:02:22.712" v="137" actId="20577"/>
          <ac:spMkLst>
            <pc:docMk/>
            <pc:sldMk cId="0" sldId="262"/>
            <ac:spMk id="2" creationId="{00000000-0000-0000-0000-000000000000}"/>
          </ac:spMkLst>
        </pc:spChg>
      </pc:sldChg>
      <pc:sldChg chg="modSp mod">
        <pc:chgData name="Daniela Avayu Zaliasnik" userId="9c27548f-6c4b-4161-bdb9-08ba1fd3ef5b" providerId="ADAL" clId="{42E25D42-D604-47A2-96A3-5D3B4D275292}" dt="2026-09-13T00:02:26.715" v="140" actId="20577"/>
        <pc:sldMkLst>
          <pc:docMk/>
          <pc:sldMk cId="0" sldId="263"/>
        </pc:sldMkLst>
        <pc:spChg chg="mod">
          <ac:chgData name="Daniela Avayu Zaliasnik" userId="9c27548f-6c4b-4161-bdb9-08ba1fd3ef5b" providerId="ADAL" clId="{42E25D42-D604-47A2-96A3-5D3B4D275292}" dt="2026-09-13T00:02:26.715" v="140" actId="20577"/>
          <ac:spMkLst>
            <pc:docMk/>
            <pc:sldMk cId="0" sldId="263"/>
            <ac:spMk id="2" creationId="{00000000-0000-0000-0000-000000000000}"/>
          </ac:spMkLst>
        </pc:spChg>
        <pc:spChg chg="mod">
          <ac:chgData name="Daniela Avayu Zaliasnik" userId="9c27548f-6c4b-4161-bdb9-08ba1fd3ef5b" providerId="ADAL" clId="{42E25D42-D604-47A2-96A3-5D3B4D275292}" dt="2026-09-13T00:01:40.424" v="112" actId="20577"/>
          <ac:spMkLst>
            <pc:docMk/>
            <pc:sldMk cId="0" sldId="263"/>
            <ac:spMk id="11" creationId="{00000000-0000-0000-0000-000000000000}"/>
          </ac:spMkLst>
        </pc:spChg>
      </pc:sldChg>
      <pc:sldChg chg="modSp mod">
        <pc:chgData name="Daniela Avayu Zaliasnik" userId="9c27548f-6c4b-4161-bdb9-08ba1fd3ef5b" providerId="ADAL" clId="{42E25D42-D604-47A2-96A3-5D3B4D275292}" dt="2026-09-13T00:02:29.545" v="143" actId="20577"/>
        <pc:sldMkLst>
          <pc:docMk/>
          <pc:sldMk cId="0" sldId="264"/>
        </pc:sldMkLst>
        <pc:spChg chg="mod">
          <ac:chgData name="Daniela Avayu Zaliasnik" userId="9c27548f-6c4b-4161-bdb9-08ba1fd3ef5b" providerId="ADAL" clId="{42E25D42-D604-47A2-96A3-5D3B4D275292}" dt="2026-09-13T00:02:29.545" v="143" actId="20577"/>
          <ac:spMkLst>
            <pc:docMk/>
            <pc:sldMk cId="0" sldId="264"/>
            <ac:spMk id="2" creationId="{00000000-0000-0000-0000-000000000000}"/>
          </ac:spMkLst>
        </pc:spChg>
      </pc:sldChg>
      <pc:sldChg chg="modSp mod">
        <pc:chgData name="Daniela Avayu Zaliasnik" userId="9c27548f-6c4b-4161-bdb9-08ba1fd3ef5b" providerId="ADAL" clId="{42E25D42-D604-47A2-96A3-5D3B4D275292}" dt="2026-09-13T00:02:33.558" v="146" actId="20577"/>
        <pc:sldMkLst>
          <pc:docMk/>
          <pc:sldMk cId="0" sldId="265"/>
        </pc:sldMkLst>
        <pc:spChg chg="mod">
          <ac:chgData name="Daniela Avayu Zaliasnik" userId="9c27548f-6c4b-4161-bdb9-08ba1fd3ef5b" providerId="ADAL" clId="{42E25D42-D604-47A2-96A3-5D3B4D275292}" dt="2026-09-13T00:02:33.558" v="146" actId="20577"/>
          <ac:spMkLst>
            <pc:docMk/>
            <pc:sldMk cId="0" sldId="265"/>
            <ac:spMk id="2" creationId="{00000000-0000-0000-0000-000000000000}"/>
          </ac:spMkLst>
        </pc:spChg>
      </pc:sldChg>
      <pc:sldChg chg="modSp mod">
        <pc:chgData name="Daniela Avayu Zaliasnik" userId="9c27548f-6c4b-4161-bdb9-08ba1fd3ef5b" providerId="ADAL" clId="{42E25D42-D604-47A2-96A3-5D3B4D275292}" dt="2026-09-13T00:02:38.945" v="150" actId="20577"/>
        <pc:sldMkLst>
          <pc:docMk/>
          <pc:sldMk cId="0" sldId="266"/>
        </pc:sldMkLst>
        <pc:spChg chg="mod">
          <ac:chgData name="Daniela Avayu Zaliasnik" userId="9c27548f-6c4b-4161-bdb9-08ba1fd3ef5b" providerId="ADAL" clId="{42E25D42-D604-47A2-96A3-5D3B4D275292}" dt="2026-09-13T00:02:38.945" v="150" actId="20577"/>
          <ac:spMkLst>
            <pc:docMk/>
            <pc:sldMk cId="0" sldId="266"/>
            <ac:spMk id="2" creationId="{00000000-0000-0000-0000-000000000000}"/>
          </ac:spMkLst>
        </pc:spChg>
      </pc:sldChg>
      <pc:sldMasterChg chg="addSp mod">
        <pc:chgData name="Daniela Avayu Zaliasnik" userId="9c27548f-6c4b-4161-bdb9-08ba1fd3ef5b" providerId="ADAL" clId="{42E25D42-D604-47A2-96A3-5D3B4D275292}" dt="2026-09-12T22:52:02.436" v="3" actId="33475"/>
        <pc:sldMasterMkLst>
          <pc:docMk/>
          <pc:sldMasterMk cId="2209977519" sldId="2147483648"/>
        </pc:sldMasterMkLst>
        <pc:spChg chg="add">
          <ac:chgData name="Daniela Avayu Zaliasnik" userId="9c27548f-6c4b-4161-bdb9-08ba1fd3ef5b" providerId="ADAL" clId="{42E25D42-D604-47A2-96A3-5D3B4D275292}" dt="2026-09-12T22:52:02.436" v="3" actId="33475"/>
          <ac:spMkLst>
            <pc:docMk/>
            <pc:sldMasterMk cId="2209977519" sldId="2147483648"/>
            <ac:spMk id="8" creationId="{605E192F-930A-2471-D027-9903229B9A51}"/>
          </ac:spMkLst>
        </pc:spChg>
      </pc:sldMasterChg>
    </pc:docChg>
  </pc:docChgLst>
</pc:chgInfo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05E192F-930A-2471-D027-9903229B9A51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11210925" y="6642100"/>
            <a:ext cx="942975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10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Official Use Only</a:t>
            </a:r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30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58368" y="1051560"/>
            <a:ext cx="10789920" cy="91440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3500" b="1">
                <a:solidFill>
                  <a:srgbClr val="FFFFFF"/>
                </a:solidFill>
                <a:latin typeface="Aptos Display"/>
              </a:rPr>
              <a:t>Top-censoring in survey welfare 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94944" y="2057400"/>
            <a:ext cx="9875520" cy="45720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2000" b="0">
                <a:solidFill>
                  <a:srgbClr val="CDDEE7"/>
                </a:solidFill>
                <a:latin typeface="Aptos Display"/>
              </a:rPr>
              <a:t>Evidence from global screening and a Malawi 1997 deep 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2880360"/>
            <a:ext cx="9966960" cy="41148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1300" b="0">
                <a:solidFill>
                  <a:srgbClr val="CDDEE7"/>
                </a:solidFill>
                <a:latin typeface="Aptos"/>
              </a:rPr>
              <a:t>Literature review | LIS and outdetect screening | Pareto, GB2 and regression diagnostics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" y="3767328"/>
            <a:ext cx="2011680" cy="91440"/>
          </a:xfrm>
          <a:prstGeom prst="rect">
            <a:avLst/>
          </a:prstGeom>
          <a:solidFill>
            <a:srgbClr val="2F81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5257800"/>
            <a:ext cx="2743200" cy="406265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lang="en-US" sz="1200" b="0" dirty="0">
                <a:solidFill>
                  <a:srgbClr val="CDDEE7"/>
                </a:solidFill>
                <a:latin typeface="Aptos"/>
              </a:rPr>
              <a:t>Daniela, Yuki, Nishant</a:t>
            </a:r>
          </a:p>
          <a:p>
            <a:pPr algn="l"/>
            <a:r>
              <a:rPr sz="1200" b="0" dirty="0">
                <a:solidFill>
                  <a:srgbClr val="CDDEE7"/>
                </a:solidFill>
                <a:latin typeface="Aptos"/>
              </a:rPr>
              <a:t>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0698480" cy="421654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2500" b="1" dirty="0">
                <a:solidFill>
                  <a:srgbClr val="1E3043"/>
                </a:solidFill>
                <a:latin typeface="Aptos Display"/>
              </a:rPr>
              <a:t>Why examine the upper tail?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32104"/>
            <a:ext cx="1005840" cy="54864"/>
          </a:xfrm>
          <a:prstGeom prst="rect">
            <a:avLst/>
          </a:prstGeom>
          <a:solidFill>
            <a:srgbClr val="2F81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0881360" cy="292608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1100" b="0">
                <a:solidFill>
                  <a:srgbClr val="646767"/>
                </a:solidFill>
                <a:latin typeface="Aptos"/>
              </a:rPr>
              <a:t>Different institutions answer different questions about extreme values.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75720" y="347472"/>
            <a:ext cx="502920" cy="32004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r"/>
            <a:r>
              <a:rPr sz="1200" b="1">
                <a:solidFill>
                  <a:srgbClr val="2F8177"/>
                </a:solidFill>
                <a:latin typeface="Aptos"/>
              </a:rPr>
              <a:t>01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00200"/>
            <a:ext cx="2240280" cy="1965960"/>
          </a:xfrm>
          <a:prstGeom prst="roundRect">
            <a:avLst/>
          </a:prstGeom>
          <a:solidFill>
            <a:srgbClr val="F2EFE8"/>
          </a:solidFill>
          <a:ln>
            <a:solidFill>
              <a:srgbClr val="D8D1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40080" y="1600200"/>
            <a:ext cx="73152" cy="1965960"/>
          </a:xfrm>
          <a:prstGeom prst="rect">
            <a:avLst/>
          </a:prstGeom>
          <a:solidFill>
            <a:srgbClr val="2C69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41247" y="1755648"/>
            <a:ext cx="1947672" cy="22860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1100" b="1">
                <a:solidFill>
                  <a:srgbClr val="646767"/>
                </a:solidFill>
                <a:latin typeface="Aptos"/>
              </a:rPr>
              <a:t>LIS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2039112"/>
            <a:ext cx="1947672" cy="86868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1600" b="1">
                <a:solidFill>
                  <a:srgbClr val="1E3043"/>
                </a:solidFill>
                <a:latin typeface="Aptos"/>
              </a:rPr>
              <a:t>Robustness treatment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7" y="2925444"/>
            <a:ext cx="1947672" cy="603503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1000" b="0" dirty="0">
                <a:solidFill>
                  <a:srgbClr val="2F353A"/>
                </a:solidFill>
                <a:latin typeface="Aptos"/>
              </a:rPr>
              <a:t>Log-IQR cap; retains records and weights. Values above it are candidates for review, not proven errors.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0440" y="1600200"/>
            <a:ext cx="2240280" cy="1965960"/>
          </a:xfrm>
          <a:prstGeom prst="roundRect">
            <a:avLst/>
          </a:prstGeom>
          <a:solidFill>
            <a:srgbClr val="F2EFE8"/>
          </a:solidFill>
          <a:ln>
            <a:solidFill>
              <a:srgbClr val="D8D1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520440" y="1600200"/>
            <a:ext cx="73152" cy="1965960"/>
          </a:xfrm>
          <a:prstGeom prst="rect">
            <a:avLst/>
          </a:prstGeom>
          <a:solidFill>
            <a:srgbClr val="CF6F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721608" y="1755648"/>
            <a:ext cx="1947672" cy="22860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1100" b="1">
                <a:solidFill>
                  <a:srgbClr val="646767"/>
                </a:solidFill>
                <a:latin typeface="Aptos"/>
              </a:rPr>
              <a:t>CPS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21608" y="2039112"/>
            <a:ext cx="1947672" cy="86868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1600" b="1">
                <a:solidFill>
                  <a:srgbClr val="1E3043"/>
                </a:solidFill>
                <a:latin typeface="Aptos"/>
              </a:rPr>
              <a:t>Confidentiality treatment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21608" y="2936076"/>
            <a:ext cx="1947672" cy="603503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1000" b="0" dirty="0">
                <a:solidFill>
                  <a:srgbClr val="2F353A"/>
                </a:solidFill>
                <a:latin typeface="Aptos"/>
              </a:rPr>
              <a:t>Top-coding, replacement and rank swapping protect respondents; public values may not be reported incomes.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0" y="1600200"/>
            <a:ext cx="2240280" cy="1965960"/>
          </a:xfrm>
          <a:prstGeom prst="roundRect">
            <a:avLst/>
          </a:prstGeom>
          <a:solidFill>
            <a:srgbClr val="F2EFE8"/>
          </a:solidFill>
          <a:ln>
            <a:solidFill>
              <a:srgbClr val="D8D1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400800" y="1600200"/>
            <a:ext cx="73152" cy="1965960"/>
          </a:xfrm>
          <a:prstGeom prst="rect">
            <a:avLst/>
          </a:prstGeom>
          <a:solidFill>
            <a:srgbClr val="2F81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601968" y="1755648"/>
            <a:ext cx="1947672" cy="22860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1100" b="1">
                <a:solidFill>
                  <a:srgbClr val="646767"/>
                </a:solidFill>
                <a:latin typeface="Aptos"/>
              </a:rPr>
              <a:t>EU-SILC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1968" y="2039112"/>
            <a:ext cx="1947672" cy="86868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1600" b="1">
                <a:solidFill>
                  <a:srgbClr val="1E3043"/>
                </a:solidFill>
                <a:latin typeface="Aptos"/>
              </a:rPr>
              <a:t>Sensitivity toolkit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1968" y="2925444"/>
            <a:ext cx="1947672" cy="603503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1000" b="0" dirty="0">
                <a:solidFill>
                  <a:srgbClr val="2F353A"/>
                </a:solidFill>
                <a:latin typeface="Aptos"/>
              </a:rPr>
              <a:t>Trimming deletes, </a:t>
            </a:r>
            <a:r>
              <a:rPr sz="1000" b="0" dirty="0" err="1">
                <a:solidFill>
                  <a:srgbClr val="2F353A"/>
                </a:solidFill>
                <a:latin typeface="Aptos"/>
              </a:rPr>
              <a:t>winsorizing</a:t>
            </a:r>
            <a:r>
              <a:rPr sz="1000" b="0" dirty="0">
                <a:solidFill>
                  <a:srgbClr val="2F353A"/>
                </a:solidFill>
                <a:latin typeface="Aptos"/>
              </a:rPr>
              <a:t> caps, and Pareto models the tail. Each makes a different assumption.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281160" y="1600200"/>
            <a:ext cx="2240280" cy="1965960"/>
          </a:xfrm>
          <a:prstGeom prst="roundRect">
            <a:avLst/>
          </a:prstGeom>
          <a:solidFill>
            <a:srgbClr val="F2EFE8"/>
          </a:solidFill>
          <a:ln>
            <a:solidFill>
              <a:srgbClr val="D8D1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9281160" y="1600200"/>
            <a:ext cx="73152" cy="1965960"/>
          </a:xfrm>
          <a:prstGeom prst="rect">
            <a:avLst/>
          </a:prstGeom>
          <a:solidFill>
            <a:srgbClr val="AD46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482328" y="1755648"/>
            <a:ext cx="1947672" cy="22860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1100" b="1">
                <a:solidFill>
                  <a:srgbClr val="646767"/>
                </a:solidFill>
                <a:latin typeface="Aptos"/>
              </a:rPr>
              <a:t>WID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82328" y="2039112"/>
            <a:ext cx="1947672" cy="86868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1600" b="1">
                <a:solidFill>
                  <a:srgbClr val="1E3043"/>
                </a:solidFill>
                <a:latin typeface="Aptos"/>
              </a:rPr>
              <a:t>Coverage problem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82328" y="2941392"/>
            <a:ext cx="1947672" cy="603503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1000" b="0" dirty="0">
                <a:solidFill>
                  <a:srgbClr val="2F353A"/>
                </a:solidFill>
                <a:latin typeface="Aptos"/>
              </a:rPr>
              <a:t>Combines survey, tax and administrative data to address underrepresentation of the richest households.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4069080"/>
            <a:ext cx="10241280" cy="658368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ctr"/>
            <a:r>
              <a:rPr sz="2100" b="1">
                <a:solidFill>
                  <a:srgbClr val="1E3043"/>
                </a:solidFill>
                <a:latin typeface="Aptos Display"/>
              </a:rPr>
              <a:t>The literature separates two problems: limiting the influence of observed extreme values, and correcting for the possible underrepresentation of the richest households.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4983480"/>
            <a:ext cx="10241280" cy="566928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ctr"/>
            <a:r>
              <a:rPr sz="1800" b="0">
                <a:solidFill>
                  <a:srgbClr val="2F353A"/>
                </a:solidFill>
                <a:latin typeface="Aptos"/>
              </a:rPr>
              <a:t>This project focuses on the first: do a few observed welfare values have enough influence to warrant a transparent sensitivity treatment?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510528"/>
            <a:ext cx="6400800" cy="164592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800" b="0">
                <a:solidFill>
                  <a:srgbClr val="646767"/>
                </a:solidFill>
                <a:latin typeface="Aptos"/>
              </a:rPr>
              <a:t>Top-censoring analysis | Malawi 1997 deep dive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69680" y="6510528"/>
            <a:ext cx="3108960" cy="164592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r"/>
            <a:r>
              <a:rPr sz="800" b="0">
                <a:solidFill>
                  <a:srgbClr val="646767"/>
                </a:solidFill>
                <a:latin typeface="Aptos"/>
              </a:rPr>
              <a:t>Internal working presentation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0698480" cy="421654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2500" b="1" dirty="0">
                <a:solidFill>
                  <a:srgbClr val="1E3043"/>
                </a:solidFill>
                <a:latin typeface="Aptos Display"/>
              </a:rPr>
              <a:t>Literature lens and study design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32104"/>
            <a:ext cx="1005840" cy="54864"/>
          </a:xfrm>
          <a:prstGeom prst="rect">
            <a:avLst/>
          </a:prstGeom>
          <a:solidFill>
            <a:srgbClr val="2F81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0881360" cy="292608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1100" b="0">
                <a:solidFill>
                  <a:srgbClr val="646767"/>
                </a:solidFill>
                <a:latin typeface="Aptos"/>
              </a:rPr>
              <a:t>The literature treats extreme values differently depending on the analytical objective.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75720" y="347472"/>
            <a:ext cx="502920" cy="32004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r"/>
            <a:r>
              <a:rPr sz="1200" b="1">
                <a:solidFill>
                  <a:srgbClr val="2F8177"/>
                </a:solidFill>
                <a:latin typeface="Aptos"/>
              </a:rPr>
              <a:t>02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3246120" cy="1920240"/>
          </a:xfrm>
          <a:prstGeom prst="roundRect">
            <a:avLst/>
          </a:prstGeom>
          <a:solidFill>
            <a:srgbClr val="F2EFE8"/>
          </a:solidFill>
          <a:ln>
            <a:solidFill>
              <a:srgbClr val="D8D1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31520" y="1417320"/>
            <a:ext cx="73152" cy="1920240"/>
          </a:xfrm>
          <a:prstGeom prst="rect">
            <a:avLst/>
          </a:prstGeom>
          <a:solidFill>
            <a:srgbClr val="2C69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32688" y="1572768"/>
            <a:ext cx="2953512" cy="22860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1100" b="1">
                <a:solidFill>
                  <a:srgbClr val="646767"/>
                </a:solidFill>
                <a:latin typeface="Aptos"/>
              </a:rPr>
              <a:t>GLOBAL SCREENING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1856232"/>
            <a:ext cx="2953512" cy="438912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2700" b="1">
                <a:solidFill>
                  <a:srgbClr val="1E3043"/>
                </a:solidFill>
                <a:latin typeface="Aptos Display"/>
              </a:rPr>
              <a:t>1,825 surveys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50008"/>
            <a:ext cx="2953512" cy="987552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1000" b="0">
                <a:solidFill>
                  <a:srgbClr val="2F353A"/>
                </a:solidFill>
                <a:latin typeface="Aptos"/>
              </a:rPr>
              <a:t>GMD provides welfare and weights for the LIS and outdetect comparison.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0560" y="1417320"/>
            <a:ext cx="3246120" cy="1920240"/>
          </a:xfrm>
          <a:prstGeom prst="roundRect">
            <a:avLst/>
          </a:prstGeom>
          <a:solidFill>
            <a:srgbClr val="F2EFE8"/>
          </a:solidFill>
          <a:ln>
            <a:solidFill>
              <a:srgbClr val="D8D1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480560" y="1417320"/>
            <a:ext cx="73152" cy="1920240"/>
          </a:xfrm>
          <a:prstGeom prst="rect">
            <a:avLst/>
          </a:prstGeom>
          <a:solidFill>
            <a:srgbClr val="2F81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681728" y="1572768"/>
            <a:ext cx="2953512" cy="22860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1100" b="1">
                <a:solidFill>
                  <a:srgbClr val="646767"/>
                </a:solidFill>
                <a:latin typeface="Aptos"/>
              </a:rPr>
              <a:t>MALAWI DEEP DIVE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81728" y="1856232"/>
            <a:ext cx="2953512" cy="438912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2700" b="1">
                <a:solidFill>
                  <a:srgbClr val="1E3043"/>
                </a:solidFill>
                <a:latin typeface="Aptos Display"/>
              </a:rPr>
              <a:t>10,698 records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81728" y="2350008"/>
            <a:ext cx="2953512" cy="987552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1000" b="0">
                <a:solidFill>
                  <a:srgbClr val="2F353A"/>
                </a:solidFill>
                <a:latin typeface="Aptos"/>
              </a:rPr>
              <a:t>Country microdata add household characteristics for the Pareto, GB2 and regression diagnostics.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0" y="1417320"/>
            <a:ext cx="3246120" cy="1920240"/>
          </a:xfrm>
          <a:prstGeom prst="roundRect">
            <a:avLst/>
          </a:prstGeom>
          <a:solidFill>
            <a:srgbClr val="F2EFE8"/>
          </a:solidFill>
          <a:ln>
            <a:solidFill>
              <a:srgbClr val="D8D1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229600" y="1417320"/>
            <a:ext cx="73152" cy="1920240"/>
          </a:xfrm>
          <a:prstGeom prst="rect">
            <a:avLst/>
          </a:prstGeom>
          <a:solidFill>
            <a:srgbClr val="CF6F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430768" y="1572768"/>
            <a:ext cx="2953512" cy="22860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1100" b="1">
                <a:solidFill>
                  <a:srgbClr val="646767"/>
                </a:solidFill>
                <a:latin typeface="Aptos"/>
              </a:rPr>
              <a:t>KEY DISTINCTION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0768" y="1856232"/>
            <a:ext cx="2953512" cy="566928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1900" b="1">
                <a:solidFill>
                  <a:srgbClr val="1E3043"/>
                </a:solidFill>
                <a:latin typeface="Aptos"/>
              </a:rPr>
              <a:t>Not one rule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0768" y="2478024"/>
            <a:ext cx="2953512" cy="859536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1000" b="0">
                <a:solidFill>
                  <a:srgbClr val="2F353A"/>
                </a:solidFill>
                <a:latin typeface="Aptos"/>
              </a:rPr>
              <a:t>An extreme value is a candidate for review, not proof of a data error.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37844" y="4590288"/>
            <a:ext cx="10241280" cy="384048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ctr"/>
            <a:r>
              <a:rPr sz="1600" b="1" dirty="0">
                <a:solidFill>
                  <a:srgbClr val="1E3043"/>
                </a:solidFill>
                <a:latin typeface="Aptos"/>
              </a:rPr>
              <a:t>Our question: how sensitive are the headline indicators to extreme observed values, under transparent deletion and capping rules?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510528"/>
            <a:ext cx="6400800" cy="164592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800" b="0">
                <a:solidFill>
                  <a:srgbClr val="646767"/>
                </a:solidFill>
                <a:latin typeface="Aptos"/>
              </a:rPr>
              <a:t>Top-censoring analysis | Malawi 1997 deep dive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69680" y="6510528"/>
            <a:ext cx="3108960" cy="164592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r"/>
            <a:r>
              <a:rPr sz="800" b="0">
                <a:solidFill>
                  <a:srgbClr val="646767"/>
                </a:solidFill>
                <a:latin typeface="Aptos"/>
              </a:rPr>
              <a:t>Internal working presentation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0698480" cy="421654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2500" b="1" dirty="0">
                <a:solidFill>
                  <a:srgbClr val="1E3043"/>
                </a:solidFill>
                <a:latin typeface="Aptos Display"/>
              </a:rPr>
              <a:t>Global screening: LIS and </a:t>
            </a:r>
            <a:r>
              <a:rPr sz="2500" b="1" dirty="0" err="1">
                <a:solidFill>
                  <a:srgbClr val="1E3043"/>
                </a:solidFill>
                <a:latin typeface="Aptos Display"/>
              </a:rPr>
              <a:t>outdetect</a:t>
            </a:r>
            <a:endParaRPr sz="2500" b="1" dirty="0">
              <a:solidFill>
                <a:srgbClr val="1E3043"/>
              </a:solidFill>
              <a:latin typeface="Aptos Display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02920" y="832104"/>
            <a:ext cx="1005840" cy="54864"/>
          </a:xfrm>
          <a:prstGeom prst="rect">
            <a:avLst/>
          </a:prstGeom>
          <a:solidFill>
            <a:srgbClr val="2F81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0881360" cy="292608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1100" b="0">
                <a:solidFill>
                  <a:srgbClr val="646767"/>
                </a:solidFill>
                <a:latin typeface="Aptos"/>
              </a:rPr>
              <a:t>The two methods agree on the most extreme LIS cases, while outdetect is broader.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75720" y="347472"/>
            <a:ext cx="502920" cy="32004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r"/>
            <a:r>
              <a:rPr sz="1200" b="1">
                <a:solidFill>
                  <a:srgbClr val="2F8177"/>
                </a:solidFill>
                <a:latin typeface="Aptos"/>
              </a:rPr>
              <a:t>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325880"/>
            <a:ext cx="2514600" cy="1280160"/>
          </a:xfrm>
          <a:prstGeom prst="roundRect">
            <a:avLst/>
          </a:prstGeom>
          <a:solidFill>
            <a:srgbClr val="F2EFE8"/>
          </a:solidFill>
          <a:ln>
            <a:solidFill>
              <a:srgbClr val="D8D1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85800" y="1325880"/>
            <a:ext cx="73152" cy="1280160"/>
          </a:xfrm>
          <a:prstGeom prst="rect">
            <a:avLst/>
          </a:prstGeom>
          <a:solidFill>
            <a:srgbClr val="2C69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86968" y="1481328"/>
            <a:ext cx="2221992" cy="22860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1100" b="1">
                <a:solidFill>
                  <a:srgbClr val="646767"/>
                </a:solidFill>
                <a:latin typeface="Aptos"/>
              </a:rPr>
              <a:t>LIS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1764792"/>
            <a:ext cx="2221992" cy="438912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2700" b="1">
                <a:solidFill>
                  <a:srgbClr val="1E3043"/>
                </a:solidFill>
                <a:latin typeface="Aptos Display"/>
              </a:rPr>
              <a:t>24 surveys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2258568"/>
            <a:ext cx="2221992" cy="347471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1000" b="0">
                <a:solidFill>
                  <a:srgbClr val="2F353A"/>
                </a:solidFill>
                <a:latin typeface="Aptos"/>
              </a:rPr>
              <a:t>At least 5% of total welfare above the LIS ceiling.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29000" y="1325880"/>
            <a:ext cx="2514600" cy="1280160"/>
          </a:xfrm>
          <a:prstGeom prst="roundRect">
            <a:avLst/>
          </a:prstGeom>
          <a:solidFill>
            <a:srgbClr val="F2EFE8"/>
          </a:solidFill>
          <a:ln>
            <a:solidFill>
              <a:srgbClr val="D8D1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429000" y="1325880"/>
            <a:ext cx="73152" cy="1280160"/>
          </a:xfrm>
          <a:prstGeom prst="rect">
            <a:avLst/>
          </a:prstGeom>
          <a:solidFill>
            <a:srgbClr val="CF6F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630168" y="1481328"/>
            <a:ext cx="2221992" cy="22860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1100" b="1">
                <a:solidFill>
                  <a:srgbClr val="646767"/>
                </a:solidFill>
                <a:latin typeface="Aptos"/>
              </a:rPr>
              <a:t>OUTDETECT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1764792"/>
            <a:ext cx="2221992" cy="438912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2700" b="1">
                <a:solidFill>
                  <a:srgbClr val="1E3043"/>
                </a:solidFill>
                <a:latin typeface="Aptos Display"/>
              </a:rPr>
              <a:t>398 surveys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30168" y="2258568"/>
            <a:ext cx="2221992" cy="347471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1000" b="0">
                <a:solidFill>
                  <a:srgbClr val="2F353A"/>
                </a:solidFill>
                <a:latin typeface="Aptos"/>
              </a:rPr>
              <a:t>At least 5% of total welfare among robustly flagged values.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1325880"/>
            <a:ext cx="2514600" cy="1280160"/>
          </a:xfrm>
          <a:prstGeom prst="roundRect">
            <a:avLst/>
          </a:prstGeom>
          <a:solidFill>
            <a:srgbClr val="F2EFE8"/>
          </a:solidFill>
          <a:ln>
            <a:solidFill>
              <a:srgbClr val="D8D1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172200" y="1325880"/>
            <a:ext cx="73152" cy="1280160"/>
          </a:xfrm>
          <a:prstGeom prst="rect">
            <a:avLst/>
          </a:prstGeom>
          <a:solidFill>
            <a:srgbClr val="2F81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373368" y="1481328"/>
            <a:ext cx="2221992" cy="22860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1100" b="1">
                <a:solidFill>
                  <a:srgbClr val="646767"/>
                </a:solidFill>
                <a:latin typeface="Aptos"/>
              </a:rPr>
              <a:t>OVERLAP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73368" y="1764792"/>
            <a:ext cx="2221992" cy="438912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2700" b="1">
                <a:solidFill>
                  <a:srgbClr val="1E3043"/>
                </a:solidFill>
                <a:latin typeface="Aptos Display"/>
              </a:rPr>
              <a:t>24 surveys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3368" y="2258568"/>
            <a:ext cx="2221992" cy="347471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1000" b="0">
                <a:solidFill>
                  <a:srgbClr val="2F353A"/>
                </a:solidFill>
                <a:latin typeface="Aptos"/>
              </a:rPr>
              <a:t>All LIS cases are also included in the outdetect set.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15400" y="1325880"/>
            <a:ext cx="2514600" cy="1280160"/>
          </a:xfrm>
          <a:prstGeom prst="roundRect">
            <a:avLst/>
          </a:prstGeom>
          <a:solidFill>
            <a:srgbClr val="F2EFE8"/>
          </a:solidFill>
          <a:ln>
            <a:solidFill>
              <a:srgbClr val="D8D1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915400" y="1325880"/>
            <a:ext cx="73152" cy="1280160"/>
          </a:xfrm>
          <a:prstGeom prst="rect">
            <a:avLst/>
          </a:prstGeom>
          <a:solidFill>
            <a:srgbClr val="AD46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116568" y="1481328"/>
            <a:ext cx="2221992" cy="22860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1100" b="1">
                <a:solidFill>
                  <a:srgbClr val="646767"/>
                </a:solidFill>
                <a:latin typeface="Aptos"/>
              </a:rPr>
              <a:t>ADDITIONAL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16568" y="1764792"/>
            <a:ext cx="2221992" cy="438912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2700" b="1">
                <a:solidFill>
                  <a:srgbClr val="1E3043"/>
                </a:solidFill>
                <a:latin typeface="Aptos Display"/>
              </a:rPr>
              <a:t>374 surveys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16568" y="2258568"/>
            <a:ext cx="2221992" cy="347471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1000" b="0">
                <a:solidFill>
                  <a:srgbClr val="2F353A"/>
                </a:solidFill>
                <a:latin typeface="Aptos"/>
              </a:rPr>
              <a:t>Detected only by the broader outdetect screen.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5800" y="2743200"/>
            <a:ext cx="10744200" cy="713232"/>
          </a:xfrm>
          <a:prstGeom prst="roundRect">
            <a:avLst/>
          </a:prstGeom>
          <a:solidFill>
            <a:srgbClr val="F2EFE8"/>
          </a:solidFill>
          <a:ln>
            <a:solidFill>
              <a:srgbClr val="DA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96112" y="2834640"/>
            <a:ext cx="5303520" cy="236988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1300" b="1" dirty="0">
                <a:solidFill>
                  <a:srgbClr val="1E3043"/>
                </a:solidFill>
                <a:latin typeface="Aptos"/>
              </a:rPr>
              <a:t>LIS ceiling:  exp[ Q</a:t>
            </a:r>
            <a:r>
              <a:rPr sz="1000" b="1" dirty="0">
                <a:solidFill>
                  <a:srgbClr val="1E3043"/>
                </a:solidFill>
                <a:latin typeface="Aptos"/>
              </a:rPr>
              <a:t>0.75</a:t>
            </a:r>
            <a:r>
              <a:rPr sz="1300" b="1" dirty="0">
                <a:solidFill>
                  <a:srgbClr val="1E3043"/>
                </a:solidFill>
                <a:latin typeface="Aptos"/>
              </a:rPr>
              <a:t>(ln y) + 3 x IQR(ln</a:t>
            </a:r>
            <a:r>
              <a:rPr lang="en-US" sz="1300" b="1" dirty="0">
                <a:solidFill>
                  <a:srgbClr val="1E3043"/>
                </a:solidFill>
                <a:latin typeface="Aptos"/>
              </a:rPr>
              <a:t> </a:t>
            </a:r>
            <a:r>
              <a:rPr sz="1300" b="1" dirty="0">
                <a:solidFill>
                  <a:srgbClr val="1E3043"/>
                </a:solidFill>
                <a:latin typeface="Aptos"/>
              </a:rPr>
              <a:t>y) ]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6112" y="3127248"/>
            <a:ext cx="10332720" cy="27432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1300" b="1">
                <a:solidFill>
                  <a:srgbClr val="1E3043"/>
                </a:solidFill>
                <a:latin typeface="Aptos"/>
              </a:rPr>
              <a:t>outdetect threshold:  exp[ median(ln y) + 3S ],   S = 1.1926 x median_i[ median_j |zi - zj| ],  z = ln 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3703320"/>
            <a:ext cx="4983480" cy="36576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2100" b="1">
                <a:solidFill>
                  <a:srgbClr val="1E3043"/>
                </a:solidFill>
                <a:latin typeface="Aptos Display"/>
              </a:rPr>
              <a:t>Two screens, two questions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4343400"/>
            <a:ext cx="1097280" cy="283154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1600" b="1">
                <a:solidFill>
                  <a:srgbClr val="2C6984"/>
                </a:solidFill>
                <a:latin typeface="Aptos"/>
              </a:rPr>
              <a:t>LIS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828800" y="4297680"/>
            <a:ext cx="3657600" cy="50292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1500" b="0">
                <a:solidFill>
                  <a:srgbClr val="2F353A"/>
                </a:solidFill>
                <a:latin typeface="Aptos"/>
              </a:rPr>
              <a:t>Which surveys contain a small population share above a transparent log-IQR ceiling?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" y="5074920"/>
            <a:ext cx="1097280" cy="283154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1600" b="1" dirty="0" err="1">
                <a:solidFill>
                  <a:srgbClr val="CF6F39"/>
                </a:solidFill>
                <a:latin typeface="Aptos"/>
              </a:rPr>
              <a:t>outdetect</a:t>
            </a:r>
            <a:endParaRPr sz="1600" b="1" dirty="0">
              <a:solidFill>
                <a:srgbClr val="CF6F39"/>
              </a:solidFill>
              <a:latin typeface="Aptos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1828800" y="5029200"/>
            <a:ext cx="3657600" cy="50292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1500" b="0">
                <a:solidFill>
                  <a:srgbClr val="2F353A"/>
                </a:solidFill>
                <a:latin typeface="Aptos"/>
              </a:rPr>
              <a:t>Which observations are unusually high relative to a robust median-and-scale rule?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" y="5806440"/>
            <a:ext cx="1097280" cy="283154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1600" b="1">
                <a:solidFill>
                  <a:srgbClr val="2F8177"/>
                </a:solidFill>
                <a:latin typeface="Aptos"/>
              </a:rPr>
              <a:t>Result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28800" y="5742432"/>
            <a:ext cx="3657600" cy="50292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1500" b="0">
                <a:solidFill>
                  <a:srgbClr val="2F353A"/>
                </a:solidFill>
                <a:latin typeface="Aptos"/>
              </a:rPr>
              <a:t>The welfare-share screen gives 24 LIS surveys and 398 outdetect surveys; all 24 LIS cases are included in the outdetect set.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806440" y="3703320"/>
            <a:ext cx="5577840" cy="2423160"/>
          </a:xfrm>
          <a:prstGeom prst="roundRect">
            <a:avLst/>
          </a:prstGeom>
          <a:solidFill>
            <a:srgbClr val="F2EFE8"/>
          </a:solidFill>
          <a:ln>
            <a:solidFill>
              <a:srgbClr val="DA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126480" y="3977639"/>
            <a:ext cx="4937760" cy="32004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2000" b="1">
                <a:solidFill>
                  <a:srgbClr val="1E3043"/>
                </a:solidFill>
                <a:latin typeface="Aptos Display"/>
              </a:rPr>
              <a:t>How to read the comparison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26480" y="4526280"/>
            <a:ext cx="4754880" cy="438912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1400" b="0">
                <a:solidFill>
                  <a:srgbClr val="2F353A"/>
                </a:solidFill>
                <a:latin typeface="Aptos"/>
              </a:rPr>
              <a:t>•  The 5% welfare-share rule is the common survey-level criterion used for the main comparison.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26480" y="5074920"/>
            <a:ext cx="4754880" cy="438912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1400" b="0">
                <a:solidFill>
                  <a:srgbClr val="2F353A"/>
                </a:solidFill>
                <a:latin typeface="Aptos"/>
              </a:rPr>
              <a:t>•  The alternative 1% population-share rule is a reference-point check: 143 surveys, including 5 LIS cases.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26480" y="5623560"/>
            <a:ext cx="4754880" cy="438912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1400" b="0">
                <a:solidFill>
                  <a:srgbClr val="2F353A"/>
                </a:solidFill>
                <a:latin typeface="Aptos"/>
              </a:rPr>
              <a:t>•  Neither screen proves that an observation is erroneous; both identify cases for review.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6510528"/>
            <a:ext cx="6400800" cy="164592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800" b="0">
                <a:solidFill>
                  <a:srgbClr val="646767"/>
                </a:solidFill>
                <a:latin typeface="Aptos"/>
              </a:rPr>
              <a:t>Top-censoring analysis | Malawi 1997 deep dive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869680" y="6510528"/>
            <a:ext cx="3108960" cy="164592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r"/>
            <a:r>
              <a:rPr sz="800" b="0">
                <a:solidFill>
                  <a:srgbClr val="646767"/>
                </a:solidFill>
                <a:latin typeface="Aptos"/>
              </a:rPr>
              <a:t>Internal working presentation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0698480" cy="421654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2500" b="1" dirty="0" err="1">
                <a:solidFill>
                  <a:srgbClr val="1E3043"/>
                </a:solidFill>
                <a:latin typeface="Aptos Display"/>
              </a:rPr>
              <a:t>Outdetect</a:t>
            </a:r>
            <a:r>
              <a:rPr sz="2500" b="1" dirty="0">
                <a:solidFill>
                  <a:srgbClr val="1E3043"/>
                </a:solidFill>
                <a:latin typeface="Aptos Display"/>
              </a:rPr>
              <a:t>: the 1% population-share criterion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32104"/>
            <a:ext cx="1005840" cy="54864"/>
          </a:xfrm>
          <a:prstGeom prst="rect">
            <a:avLst/>
          </a:prstGeom>
          <a:solidFill>
            <a:srgbClr val="2F81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0881360" cy="292608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1100" b="0">
                <a:solidFill>
                  <a:srgbClr val="646767"/>
                </a:solidFill>
                <a:latin typeface="Aptos"/>
              </a:rPr>
              <a:t>An alternative reference point identifies a smaller set of surveys, including five LIS cases.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75720" y="347472"/>
            <a:ext cx="502920" cy="32004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r"/>
            <a:r>
              <a:rPr sz="1200" b="1">
                <a:solidFill>
                  <a:srgbClr val="2F8177"/>
                </a:solidFill>
                <a:latin typeface="Aptos"/>
              </a:rPr>
              <a:t>04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3246120" cy="1508760"/>
          </a:xfrm>
          <a:prstGeom prst="roundRect">
            <a:avLst/>
          </a:prstGeom>
          <a:solidFill>
            <a:srgbClr val="F2EFE8"/>
          </a:solidFill>
          <a:ln>
            <a:solidFill>
              <a:srgbClr val="D8D1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31520" y="1371600"/>
            <a:ext cx="73152" cy="1508760"/>
          </a:xfrm>
          <a:prstGeom prst="rect">
            <a:avLst/>
          </a:prstGeom>
          <a:solidFill>
            <a:srgbClr val="CF6F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32688" y="1527048"/>
            <a:ext cx="2953512" cy="22860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1100" b="1">
                <a:solidFill>
                  <a:srgbClr val="646767"/>
                </a:solidFill>
                <a:latin typeface="Aptos"/>
              </a:rPr>
              <a:t>OUTDETECT RULE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1810512"/>
            <a:ext cx="2953512" cy="50292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2000" b="1">
                <a:solidFill>
                  <a:srgbClr val="1E3043"/>
                </a:solidFill>
                <a:latin typeface="Aptos Display"/>
              </a:rPr>
              <a:t>1% population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68296"/>
            <a:ext cx="2953512" cy="498598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1000" b="0" dirty="0">
                <a:solidFill>
                  <a:srgbClr val="2F353A"/>
                </a:solidFill>
                <a:latin typeface="Aptos"/>
              </a:rPr>
              <a:t>Reference point based on the </a:t>
            </a:r>
            <a:r>
              <a:rPr sz="1000" b="0" dirty="0" err="1">
                <a:solidFill>
                  <a:srgbClr val="2F353A"/>
                </a:solidFill>
                <a:latin typeface="Aptos"/>
              </a:rPr>
              <a:t>outdetect</a:t>
            </a:r>
            <a:r>
              <a:rPr sz="1000" b="0" dirty="0">
                <a:solidFill>
                  <a:srgbClr val="2F353A"/>
                </a:solidFill>
                <a:latin typeface="Aptos"/>
              </a:rPr>
              <a:t> documentation; </a:t>
            </a:r>
            <a:r>
              <a:rPr lang="en-US" sz="1000" dirty="0">
                <a:solidFill>
                  <a:srgbClr val="2F353A"/>
                </a:solidFill>
                <a:latin typeface="Aptos"/>
              </a:rPr>
              <a:t>percentage of population above threshold</a:t>
            </a:r>
            <a:r>
              <a:rPr sz="1000" b="0" dirty="0">
                <a:solidFill>
                  <a:srgbClr val="2F353A"/>
                </a:solidFill>
                <a:latin typeface="Aptos"/>
              </a:rPr>
              <a:t>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0560" y="1371600"/>
            <a:ext cx="3246120" cy="1508760"/>
          </a:xfrm>
          <a:prstGeom prst="roundRect">
            <a:avLst/>
          </a:prstGeom>
          <a:solidFill>
            <a:srgbClr val="F2EFE8"/>
          </a:solidFill>
          <a:ln>
            <a:solidFill>
              <a:srgbClr val="D8D1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480560" y="1371600"/>
            <a:ext cx="73152" cy="1508760"/>
          </a:xfrm>
          <a:prstGeom prst="rect">
            <a:avLst/>
          </a:prstGeom>
          <a:solidFill>
            <a:srgbClr val="2C69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681728" y="1527048"/>
            <a:ext cx="2953512" cy="22860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1100" b="1">
                <a:solidFill>
                  <a:srgbClr val="646767"/>
                </a:solidFill>
                <a:latin typeface="Aptos"/>
              </a:rPr>
              <a:t>SURVEYS FLAGGED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81728" y="1810512"/>
            <a:ext cx="2953512" cy="50292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2100" b="1">
                <a:solidFill>
                  <a:srgbClr val="1E3043"/>
                </a:solidFill>
                <a:latin typeface="Aptos Display"/>
              </a:rPr>
              <a:t>143 surveys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81728" y="2368296"/>
            <a:ext cx="2953512" cy="512063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1000" b="0">
                <a:solidFill>
                  <a:srgbClr val="2F353A"/>
                </a:solidFill>
                <a:latin typeface="Aptos"/>
              </a:rPr>
              <a:t>Flagged when outdetect observations exceed 1% of the weighted population.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0" y="1371600"/>
            <a:ext cx="3246120" cy="1508760"/>
          </a:xfrm>
          <a:prstGeom prst="roundRect">
            <a:avLst/>
          </a:prstGeom>
          <a:solidFill>
            <a:srgbClr val="F2EFE8"/>
          </a:solidFill>
          <a:ln>
            <a:solidFill>
              <a:srgbClr val="D8D1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229600" y="1371600"/>
            <a:ext cx="73152" cy="1508760"/>
          </a:xfrm>
          <a:prstGeom prst="rect">
            <a:avLst/>
          </a:prstGeom>
          <a:solidFill>
            <a:srgbClr val="2F81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430768" y="1527048"/>
            <a:ext cx="2953512" cy="22860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1100" b="1">
                <a:solidFill>
                  <a:srgbClr val="646767"/>
                </a:solidFill>
                <a:latin typeface="Aptos"/>
              </a:rPr>
              <a:t>OVERLAP WITH LIS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0768" y="1810512"/>
            <a:ext cx="2953512" cy="50292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2100" b="1">
                <a:solidFill>
                  <a:srgbClr val="1E3043"/>
                </a:solidFill>
                <a:latin typeface="Aptos Display"/>
              </a:rPr>
              <a:t>5 surveys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0768" y="2368296"/>
            <a:ext cx="2953512" cy="512063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1000" b="0">
                <a:solidFill>
                  <a:srgbClr val="2F353A"/>
                </a:solidFill>
                <a:latin typeface="Aptos"/>
              </a:rPr>
              <a:t>The 1% outdetect set overlaps with five of the 24 LIS surveys.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3429000"/>
            <a:ext cx="5029200" cy="36576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2200" b="1">
                <a:solidFill>
                  <a:srgbClr val="1E3043"/>
                </a:solidFill>
                <a:latin typeface="Aptos Display"/>
              </a:rPr>
              <a:t>The five overlapping survey-years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3977639"/>
            <a:ext cx="10561320" cy="1097280"/>
          </a:xfrm>
          <a:prstGeom prst="roundRect">
            <a:avLst/>
          </a:prstGeom>
          <a:solidFill>
            <a:srgbClr val="F2EFE8"/>
          </a:solidFill>
          <a:ln>
            <a:solidFill>
              <a:srgbClr val="DA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97280" y="4315968"/>
            <a:ext cx="10012680" cy="41148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ctr"/>
            <a:r>
              <a:rPr sz="2000" b="1">
                <a:solidFill>
                  <a:srgbClr val="1E3043"/>
                </a:solidFill>
                <a:latin typeface="Aptos Display"/>
              </a:rPr>
              <a:t>Comoros 2004     |     Malawi 1997     |     Rwanda 2000     |     Rwanda 2005     |     Rwanda 2013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510528"/>
            <a:ext cx="6400800" cy="164592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800" b="0">
                <a:solidFill>
                  <a:srgbClr val="646767"/>
                </a:solidFill>
                <a:latin typeface="Aptos"/>
              </a:rPr>
              <a:t>Top-censoring analysis | Malawi 1997 deep dive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69680" y="6510528"/>
            <a:ext cx="3108960" cy="164592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r"/>
            <a:r>
              <a:rPr sz="800" b="0">
                <a:solidFill>
                  <a:srgbClr val="646767"/>
                </a:solidFill>
                <a:latin typeface="Aptos"/>
              </a:rPr>
              <a:t>Internal working presentation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0698480" cy="421654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2500" b="1" dirty="0">
                <a:solidFill>
                  <a:srgbClr val="1E3043"/>
                </a:solidFill>
                <a:latin typeface="Aptos Display"/>
              </a:rPr>
              <a:t>Malawi 1997: the influence is concentrated at the very top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32104"/>
            <a:ext cx="1005840" cy="54864"/>
          </a:xfrm>
          <a:prstGeom prst="rect">
            <a:avLst/>
          </a:prstGeom>
          <a:solidFill>
            <a:srgbClr val="2F81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0881360" cy="292608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1100" b="0">
                <a:solidFill>
                  <a:srgbClr val="646767"/>
                </a:solidFill>
                <a:latin typeface="Aptos"/>
              </a:rPr>
              <a:t>The chart shows the effect of applying the LIS top-coding rule across surveys.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75720" y="347472"/>
            <a:ext cx="502920" cy="32004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r"/>
            <a:r>
              <a:rPr sz="1200" b="1">
                <a:solidFill>
                  <a:srgbClr val="2F8177"/>
                </a:solidFill>
                <a:latin typeface="Aptos"/>
              </a:rPr>
              <a:t>05</a:t>
            </a:r>
          </a:p>
        </p:txBody>
      </p:sp>
      <p:pic>
        <p:nvPicPr>
          <p:cNvPr id="6" name="Picture 5" descr="plot_top25_dumbbell_m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325880"/>
            <a:ext cx="6035040" cy="498546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543800" y="1417320"/>
            <a:ext cx="3383280" cy="32004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2100" b="1">
                <a:solidFill>
                  <a:srgbClr val="1E3043"/>
                </a:solidFill>
                <a:latin typeface="Aptos Display"/>
              </a:rPr>
              <a:t>Malawi 1997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43800" y="1965960"/>
            <a:ext cx="1325880" cy="27432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1400" b="1">
                <a:solidFill>
                  <a:srgbClr val="646767"/>
                </a:solidFill>
                <a:latin typeface="Aptos"/>
              </a:rPr>
              <a:t>Mean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23960" y="1965960"/>
            <a:ext cx="1965960" cy="27432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1400" b="1">
                <a:solidFill>
                  <a:srgbClr val="2F353A"/>
                </a:solidFill>
                <a:latin typeface="Aptos"/>
              </a:rPr>
              <a:t>5.78 -&gt; 3.59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1965960"/>
            <a:ext cx="822960" cy="27432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r"/>
            <a:r>
              <a:rPr sz="1300" b="1">
                <a:solidFill>
                  <a:srgbClr val="AD463E"/>
                </a:solidFill>
                <a:latin typeface="Aptos"/>
              </a:rPr>
              <a:t>-37.9%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43800" y="2532888"/>
            <a:ext cx="1325880" cy="27432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1400" b="1">
                <a:solidFill>
                  <a:srgbClr val="646767"/>
                </a:solidFill>
                <a:latin typeface="Aptos"/>
              </a:rPr>
              <a:t>Gini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23960" y="2532888"/>
            <a:ext cx="1965960" cy="27432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1400" b="1">
                <a:solidFill>
                  <a:srgbClr val="2F353A"/>
                </a:solidFill>
                <a:latin typeface="Aptos"/>
              </a:rPr>
              <a:t>0.658 -&gt; 0.448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44200" y="2532888"/>
            <a:ext cx="822960" cy="27432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r"/>
            <a:r>
              <a:rPr sz="1300" b="1">
                <a:solidFill>
                  <a:srgbClr val="AD463E"/>
                </a:solidFill>
                <a:latin typeface="Aptos"/>
              </a:rPr>
              <a:t>-31.9%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43800" y="3099816"/>
            <a:ext cx="1325880" cy="27432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1400" b="1">
                <a:solidFill>
                  <a:srgbClr val="646767"/>
                </a:solidFill>
                <a:latin typeface="Aptos"/>
              </a:rPr>
              <a:t>MLD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23960" y="3099816"/>
            <a:ext cx="1965960" cy="27432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1400" b="1">
                <a:solidFill>
                  <a:srgbClr val="2F353A"/>
                </a:solidFill>
                <a:latin typeface="Aptos"/>
              </a:rPr>
              <a:t>0.811 -&gt; 0.337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44200" y="3099816"/>
            <a:ext cx="822960" cy="27432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r"/>
            <a:r>
              <a:rPr sz="1300" b="1">
                <a:solidFill>
                  <a:srgbClr val="AD463E"/>
                </a:solidFill>
                <a:latin typeface="Aptos"/>
              </a:rPr>
              <a:t>-58.5%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43800" y="3666744"/>
            <a:ext cx="1325880" cy="27432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1400" b="1">
                <a:solidFill>
                  <a:srgbClr val="646767"/>
                </a:solidFill>
                <a:latin typeface="Aptos"/>
              </a:rPr>
              <a:t>Atkinson(2)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23960" y="3666744"/>
            <a:ext cx="1965960" cy="27432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1400" b="1">
                <a:solidFill>
                  <a:srgbClr val="2F353A"/>
                </a:solidFill>
                <a:latin typeface="Aptos"/>
              </a:rPr>
              <a:t>0.647 -&gt; 0.431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44200" y="3666744"/>
            <a:ext cx="822960" cy="27432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r"/>
            <a:r>
              <a:rPr sz="1300" b="1">
                <a:solidFill>
                  <a:srgbClr val="AD463E"/>
                </a:solidFill>
                <a:latin typeface="Aptos"/>
              </a:rPr>
              <a:t>-33.4%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43800" y="4233672"/>
            <a:ext cx="1325880" cy="27432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1400" b="1">
                <a:solidFill>
                  <a:srgbClr val="646767"/>
                </a:solidFill>
                <a:latin typeface="Aptos"/>
              </a:rPr>
              <a:t>Poverty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23960" y="4233672"/>
            <a:ext cx="1965960" cy="27432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1400" b="1">
                <a:solidFill>
                  <a:srgbClr val="2F353A"/>
                </a:solidFill>
                <a:latin typeface="Aptos"/>
              </a:rPr>
              <a:t>essentially unchanged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44200" y="4233672"/>
            <a:ext cx="822960" cy="27432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r"/>
            <a:r>
              <a:rPr sz="1300" b="1">
                <a:solidFill>
                  <a:srgbClr val="AD463E"/>
                </a:solidFill>
                <a:latin typeface="Aptos"/>
              </a:rPr>
              <a:t>upper tail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43800" y="4983480"/>
            <a:ext cx="3657600" cy="82296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1600" b="1">
                <a:solidFill>
                  <a:srgbClr val="1E3043"/>
                </a:solidFill>
                <a:latin typeface="Aptos"/>
              </a:rPr>
              <a:t>Interpretation: LIS top-coding materially reduces means and inequality, while poverty is protected because the capped records are far from the bottom of the distribution.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510528"/>
            <a:ext cx="6400800" cy="164592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800" b="0">
                <a:solidFill>
                  <a:srgbClr val="646767"/>
                </a:solidFill>
                <a:latin typeface="Aptos"/>
              </a:rPr>
              <a:t>Top-censoring analysis | Malawi 1997 deep dive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69680" y="6510528"/>
            <a:ext cx="3108960" cy="164592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r"/>
            <a:r>
              <a:rPr sz="800" b="0">
                <a:solidFill>
                  <a:srgbClr val="646767"/>
                </a:solidFill>
                <a:latin typeface="Aptos"/>
              </a:rPr>
              <a:t>Internal working presentation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0698480" cy="421654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2500" b="1" dirty="0">
                <a:solidFill>
                  <a:srgbClr val="1E3043"/>
                </a:solidFill>
                <a:latin typeface="Aptos Display"/>
              </a:rPr>
              <a:t>Treatment comparison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32104"/>
            <a:ext cx="1005840" cy="54864"/>
          </a:xfrm>
          <a:prstGeom prst="rect">
            <a:avLst/>
          </a:prstGeom>
          <a:solidFill>
            <a:srgbClr val="2F81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0881360" cy="292608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1100" b="0">
                <a:solidFill>
                  <a:srgbClr val="646767"/>
                </a:solidFill>
                <a:latin typeface="Aptos"/>
              </a:rPr>
              <a:t>The comparison now separates deletion from capping, using the two screening caps as the thresholds.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75720" y="347472"/>
            <a:ext cx="502920" cy="32004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r"/>
            <a:r>
              <a:rPr sz="1200" b="1">
                <a:solidFill>
                  <a:srgbClr val="2F8177"/>
                </a:solidFill>
                <a:latin typeface="Aptos"/>
              </a:rPr>
              <a:t>06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508760"/>
            <a:ext cx="3749039" cy="438912"/>
          </a:xfrm>
          <a:prstGeom prst="rect">
            <a:avLst/>
          </a:prstGeom>
          <a:solidFill>
            <a:srgbClr val="1E3043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1508760"/>
            <a:ext cx="3749039" cy="384048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Approach</a:t>
            </a:r>
          </a:p>
        </p:txBody>
      </p:sp>
      <p:sp>
        <p:nvSpPr>
          <p:cNvPr id="8" name="Rectangle 7"/>
          <p:cNvSpPr/>
          <p:nvPr/>
        </p:nvSpPr>
        <p:spPr>
          <a:xfrm>
            <a:off x="4480559" y="1508760"/>
            <a:ext cx="1417320" cy="438912"/>
          </a:xfrm>
          <a:prstGeom prst="rect">
            <a:avLst/>
          </a:prstGeom>
          <a:solidFill>
            <a:srgbClr val="1E3043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480559" y="1508760"/>
            <a:ext cx="1417320" cy="384048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Mean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97879" y="1508760"/>
            <a:ext cx="1234440" cy="438912"/>
          </a:xfrm>
          <a:prstGeom prst="rect">
            <a:avLst/>
          </a:prstGeom>
          <a:solidFill>
            <a:srgbClr val="1E3043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897879" y="1508760"/>
            <a:ext cx="1234440" cy="384048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Gini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132320" y="1508760"/>
            <a:ext cx="1234440" cy="438912"/>
          </a:xfrm>
          <a:prstGeom prst="rect">
            <a:avLst/>
          </a:prstGeom>
          <a:solidFill>
            <a:srgbClr val="1E3043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132320" y="1508760"/>
            <a:ext cx="1234440" cy="384048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MLD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366760" y="1508760"/>
            <a:ext cx="1508760" cy="438912"/>
          </a:xfrm>
          <a:prstGeom prst="rect">
            <a:avLst/>
          </a:prstGeom>
          <a:solidFill>
            <a:srgbClr val="1E3043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366760" y="1508760"/>
            <a:ext cx="1508760" cy="384048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Atkinson(2)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1984248"/>
            <a:ext cx="3749039" cy="566928"/>
          </a:xfrm>
          <a:prstGeom prst="rect">
            <a:avLst/>
          </a:prstGeom>
          <a:solidFill>
            <a:srgbClr val="F2EFE8"/>
          </a:solidFill>
          <a:ln>
            <a:solidFill>
              <a:srgbClr val="DC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77240" y="2103120"/>
            <a:ext cx="3657599" cy="256032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1300" b="1">
                <a:solidFill>
                  <a:srgbClr val="2F353A"/>
                </a:solidFill>
                <a:latin typeface="Aptos"/>
              </a:rPr>
              <a:t>Unadjusted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80559" y="1984248"/>
            <a:ext cx="1417320" cy="566928"/>
          </a:xfrm>
          <a:prstGeom prst="rect">
            <a:avLst/>
          </a:prstGeom>
          <a:solidFill>
            <a:srgbClr val="F2EFE8"/>
          </a:solidFill>
          <a:ln>
            <a:solidFill>
              <a:srgbClr val="DC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26279" y="2103120"/>
            <a:ext cx="1325880" cy="256032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ctr"/>
            <a:r>
              <a:rPr sz="1300" b="0">
                <a:solidFill>
                  <a:srgbClr val="2F353A"/>
                </a:solidFill>
                <a:latin typeface="Aptos"/>
              </a:rPr>
              <a:t>5.78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897879" y="1984248"/>
            <a:ext cx="1234440" cy="566928"/>
          </a:xfrm>
          <a:prstGeom prst="rect">
            <a:avLst/>
          </a:prstGeom>
          <a:solidFill>
            <a:srgbClr val="F2EFE8"/>
          </a:solidFill>
          <a:ln>
            <a:solidFill>
              <a:srgbClr val="DC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943599" y="2103120"/>
            <a:ext cx="1143000" cy="256032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ctr"/>
            <a:r>
              <a:rPr sz="1300" b="0">
                <a:solidFill>
                  <a:srgbClr val="2F353A"/>
                </a:solidFill>
                <a:latin typeface="Aptos"/>
              </a:rPr>
              <a:t>0.658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132320" y="1984248"/>
            <a:ext cx="1234440" cy="566928"/>
          </a:xfrm>
          <a:prstGeom prst="rect">
            <a:avLst/>
          </a:prstGeom>
          <a:solidFill>
            <a:srgbClr val="F2EFE8"/>
          </a:solidFill>
          <a:ln>
            <a:solidFill>
              <a:srgbClr val="DC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178040" y="2103120"/>
            <a:ext cx="1143000" cy="256032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ctr"/>
            <a:r>
              <a:rPr sz="1300" b="0">
                <a:solidFill>
                  <a:srgbClr val="2F353A"/>
                </a:solidFill>
                <a:latin typeface="Aptos"/>
              </a:rPr>
              <a:t>0.811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366760" y="1984248"/>
            <a:ext cx="1508760" cy="566928"/>
          </a:xfrm>
          <a:prstGeom prst="rect">
            <a:avLst/>
          </a:prstGeom>
          <a:solidFill>
            <a:srgbClr val="F2EFE8"/>
          </a:solidFill>
          <a:ln>
            <a:solidFill>
              <a:srgbClr val="DC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412480" y="2103120"/>
            <a:ext cx="1417319" cy="256032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ctr"/>
            <a:r>
              <a:rPr sz="1300" b="0">
                <a:solidFill>
                  <a:srgbClr val="2F353A"/>
                </a:solidFill>
                <a:latin typeface="Aptos"/>
              </a:rPr>
              <a:t>0.647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2578608"/>
            <a:ext cx="3749039" cy="566928"/>
          </a:xfrm>
          <a:prstGeom prst="rect">
            <a:avLst/>
          </a:prstGeom>
          <a:solidFill>
            <a:srgbClr val="FFFFFF"/>
          </a:solidFill>
          <a:ln>
            <a:solidFill>
              <a:srgbClr val="DC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77240" y="2697479"/>
            <a:ext cx="3657599" cy="256032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1300" b="1">
                <a:solidFill>
                  <a:srgbClr val="2F353A"/>
                </a:solidFill>
                <a:latin typeface="Aptos"/>
              </a:rPr>
              <a:t>Remove 2 highest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80559" y="2578608"/>
            <a:ext cx="141732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C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526279" y="2697479"/>
            <a:ext cx="1325880" cy="256032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ctr"/>
            <a:r>
              <a:rPr sz="1300" b="0">
                <a:solidFill>
                  <a:srgbClr val="2F353A"/>
                </a:solidFill>
                <a:latin typeface="Aptos"/>
              </a:rPr>
              <a:t>3.80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897879" y="2578608"/>
            <a:ext cx="12344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C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943599" y="2697479"/>
            <a:ext cx="1143000" cy="256032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ctr"/>
            <a:r>
              <a:rPr sz="1300" b="0">
                <a:solidFill>
                  <a:srgbClr val="2F353A"/>
                </a:solidFill>
                <a:latin typeface="Aptos"/>
              </a:rPr>
              <a:t>0.479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32320" y="2578608"/>
            <a:ext cx="12344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C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178040" y="2697479"/>
            <a:ext cx="1143000" cy="256032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ctr"/>
            <a:r>
              <a:rPr sz="1300" b="0">
                <a:solidFill>
                  <a:srgbClr val="2F353A"/>
                </a:solidFill>
                <a:latin typeface="Aptos"/>
              </a:rPr>
              <a:t>0.392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366760" y="2578608"/>
            <a:ext cx="150876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C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412480" y="2697479"/>
            <a:ext cx="1417319" cy="256032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ctr"/>
            <a:r>
              <a:rPr sz="1300" b="0">
                <a:solidFill>
                  <a:srgbClr val="2F353A"/>
                </a:solidFill>
                <a:latin typeface="Aptos"/>
              </a:rPr>
              <a:t>0.463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3172968"/>
            <a:ext cx="3749039" cy="566928"/>
          </a:xfrm>
          <a:prstGeom prst="rect">
            <a:avLst/>
          </a:prstGeom>
          <a:solidFill>
            <a:srgbClr val="F2EFE8"/>
          </a:solidFill>
          <a:ln>
            <a:solidFill>
              <a:srgbClr val="DC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777240" y="3291839"/>
            <a:ext cx="3657599" cy="256032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1300" b="1">
                <a:solidFill>
                  <a:srgbClr val="2F353A"/>
                </a:solidFill>
                <a:latin typeface="Aptos"/>
              </a:rPr>
              <a:t>Remove above LIS cap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80559" y="3172968"/>
            <a:ext cx="1417320" cy="566928"/>
          </a:xfrm>
          <a:prstGeom prst="rect">
            <a:avLst/>
          </a:prstGeom>
          <a:solidFill>
            <a:srgbClr val="F2EFE8"/>
          </a:solidFill>
          <a:ln>
            <a:solidFill>
              <a:srgbClr val="DC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4526279" y="3291839"/>
            <a:ext cx="1325880" cy="256032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ctr"/>
            <a:r>
              <a:rPr sz="1300" b="0">
                <a:solidFill>
                  <a:srgbClr val="2F353A"/>
                </a:solidFill>
                <a:latin typeface="Aptos"/>
              </a:rPr>
              <a:t>3.39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897879" y="3172968"/>
            <a:ext cx="1234440" cy="566928"/>
          </a:xfrm>
          <a:prstGeom prst="rect">
            <a:avLst/>
          </a:prstGeom>
          <a:solidFill>
            <a:srgbClr val="F2EFE8"/>
          </a:solidFill>
          <a:ln>
            <a:solidFill>
              <a:srgbClr val="DC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5943599" y="3291839"/>
            <a:ext cx="1143000" cy="256032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ctr"/>
            <a:r>
              <a:rPr sz="1300" b="0">
                <a:solidFill>
                  <a:srgbClr val="2F353A"/>
                </a:solidFill>
                <a:latin typeface="Aptos"/>
              </a:rPr>
              <a:t>0.420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132320" y="3172968"/>
            <a:ext cx="1234440" cy="566928"/>
          </a:xfrm>
          <a:prstGeom prst="rect">
            <a:avLst/>
          </a:prstGeom>
          <a:solidFill>
            <a:srgbClr val="F2EFE8"/>
          </a:solidFill>
          <a:ln>
            <a:solidFill>
              <a:srgbClr val="DC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7178040" y="3291839"/>
            <a:ext cx="1143000" cy="256032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ctr"/>
            <a:r>
              <a:rPr sz="1300" b="0">
                <a:solidFill>
                  <a:srgbClr val="2F353A"/>
                </a:solidFill>
                <a:latin typeface="Aptos"/>
              </a:rPr>
              <a:t>0.293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366760" y="3172968"/>
            <a:ext cx="1508760" cy="566928"/>
          </a:xfrm>
          <a:prstGeom prst="rect">
            <a:avLst/>
          </a:prstGeom>
          <a:solidFill>
            <a:srgbClr val="F2EFE8"/>
          </a:solidFill>
          <a:ln>
            <a:solidFill>
              <a:srgbClr val="DC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8412480" y="3291839"/>
            <a:ext cx="1417319" cy="256032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ctr"/>
            <a:r>
              <a:rPr sz="1300" b="0">
                <a:solidFill>
                  <a:srgbClr val="2F353A"/>
                </a:solidFill>
                <a:latin typeface="Aptos"/>
              </a:rPr>
              <a:t>0.400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31520" y="3767328"/>
            <a:ext cx="3749039" cy="566928"/>
          </a:xfrm>
          <a:prstGeom prst="rect">
            <a:avLst/>
          </a:prstGeom>
          <a:solidFill>
            <a:srgbClr val="FFFFFF"/>
          </a:solidFill>
          <a:ln>
            <a:solidFill>
              <a:srgbClr val="DC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777240" y="3886200"/>
            <a:ext cx="3657599" cy="256032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1300" b="1">
                <a:solidFill>
                  <a:srgbClr val="2F353A"/>
                </a:solidFill>
                <a:latin typeface="Aptos"/>
              </a:rPr>
              <a:t>Remove above outdetect cap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480559" y="3767328"/>
            <a:ext cx="141732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C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4526279" y="3886200"/>
            <a:ext cx="1325880" cy="256032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ctr"/>
            <a:r>
              <a:rPr sz="1300" b="0">
                <a:solidFill>
                  <a:srgbClr val="2F353A"/>
                </a:solidFill>
                <a:latin typeface="Aptos"/>
              </a:rPr>
              <a:t>3.12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897879" y="3767328"/>
            <a:ext cx="12344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C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5943599" y="3886200"/>
            <a:ext cx="1143000" cy="256032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ctr"/>
            <a:r>
              <a:rPr sz="1300" b="0">
                <a:solidFill>
                  <a:srgbClr val="2F353A"/>
                </a:solidFill>
                <a:latin typeface="Aptos"/>
              </a:rPr>
              <a:t>0.378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132320" y="3767328"/>
            <a:ext cx="12344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C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7178040" y="3886200"/>
            <a:ext cx="1143000" cy="256032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ctr"/>
            <a:r>
              <a:rPr sz="1300" b="0">
                <a:solidFill>
                  <a:srgbClr val="2F353A"/>
                </a:solidFill>
                <a:latin typeface="Aptos"/>
              </a:rPr>
              <a:t>0.235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366760" y="3767328"/>
            <a:ext cx="150876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C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8412480" y="3886200"/>
            <a:ext cx="1417319" cy="256032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ctr"/>
            <a:r>
              <a:rPr sz="1300" b="0">
                <a:solidFill>
                  <a:srgbClr val="2F353A"/>
                </a:solidFill>
                <a:latin typeface="Aptos"/>
              </a:rPr>
              <a:t>0.354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31520" y="4361688"/>
            <a:ext cx="3749039" cy="566928"/>
          </a:xfrm>
          <a:prstGeom prst="rect">
            <a:avLst/>
          </a:prstGeom>
          <a:solidFill>
            <a:srgbClr val="F2EFE8"/>
          </a:solidFill>
          <a:ln>
            <a:solidFill>
              <a:srgbClr val="DC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777240" y="4480559"/>
            <a:ext cx="3657599" cy="256032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1300" b="1">
                <a:solidFill>
                  <a:srgbClr val="2F353A"/>
                </a:solidFill>
                <a:latin typeface="Aptos"/>
              </a:rPr>
              <a:t>Cap at LIS cap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480559" y="4361688"/>
            <a:ext cx="1417320" cy="566928"/>
          </a:xfrm>
          <a:prstGeom prst="rect">
            <a:avLst/>
          </a:prstGeom>
          <a:solidFill>
            <a:srgbClr val="F2EFE8"/>
          </a:solidFill>
          <a:ln>
            <a:solidFill>
              <a:srgbClr val="DC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4526279" y="4480559"/>
            <a:ext cx="1325880" cy="256032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ctr"/>
            <a:r>
              <a:rPr sz="1300" b="0">
                <a:solidFill>
                  <a:srgbClr val="2F353A"/>
                </a:solidFill>
                <a:latin typeface="Aptos"/>
              </a:rPr>
              <a:t>3.59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897879" y="4361688"/>
            <a:ext cx="1234440" cy="566928"/>
          </a:xfrm>
          <a:prstGeom prst="rect">
            <a:avLst/>
          </a:prstGeom>
          <a:solidFill>
            <a:srgbClr val="F2EFE8"/>
          </a:solidFill>
          <a:ln>
            <a:solidFill>
              <a:srgbClr val="DC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5943599" y="4480559"/>
            <a:ext cx="1143000" cy="256032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ctr"/>
            <a:r>
              <a:rPr sz="1300" b="0">
                <a:solidFill>
                  <a:srgbClr val="2F353A"/>
                </a:solidFill>
                <a:latin typeface="Aptos"/>
              </a:rPr>
              <a:t>0.448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132320" y="4361688"/>
            <a:ext cx="1234440" cy="566928"/>
          </a:xfrm>
          <a:prstGeom prst="rect">
            <a:avLst/>
          </a:prstGeom>
          <a:solidFill>
            <a:srgbClr val="F2EFE8"/>
          </a:solidFill>
          <a:ln>
            <a:solidFill>
              <a:srgbClr val="DC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7178040" y="4480559"/>
            <a:ext cx="1143000" cy="256032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ctr"/>
            <a:r>
              <a:rPr sz="1300" b="0">
                <a:solidFill>
                  <a:srgbClr val="2F353A"/>
                </a:solidFill>
                <a:latin typeface="Aptos"/>
              </a:rPr>
              <a:t>0.337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366760" y="4361688"/>
            <a:ext cx="1508760" cy="566928"/>
          </a:xfrm>
          <a:prstGeom prst="rect">
            <a:avLst/>
          </a:prstGeom>
          <a:solidFill>
            <a:srgbClr val="F2EFE8"/>
          </a:solidFill>
          <a:ln>
            <a:solidFill>
              <a:srgbClr val="DC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8412480" y="4480559"/>
            <a:ext cx="1417319" cy="256032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ctr"/>
            <a:r>
              <a:rPr sz="1300" b="0">
                <a:solidFill>
                  <a:srgbClr val="2F353A"/>
                </a:solidFill>
                <a:latin typeface="Aptos"/>
              </a:rPr>
              <a:t>0.431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31520" y="4956048"/>
            <a:ext cx="3749039" cy="566928"/>
          </a:xfrm>
          <a:prstGeom prst="rect">
            <a:avLst/>
          </a:prstGeom>
          <a:solidFill>
            <a:srgbClr val="FFFFFF"/>
          </a:solidFill>
          <a:ln>
            <a:solidFill>
              <a:srgbClr val="DC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777240" y="5074920"/>
            <a:ext cx="3657599" cy="256032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1300" b="1">
                <a:solidFill>
                  <a:srgbClr val="2F353A"/>
                </a:solidFill>
                <a:latin typeface="Aptos"/>
              </a:rPr>
              <a:t>Cap at outdetect cap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80559" y="4956048"/>
            <a:ext cx="141732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C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4526279" y="5074920"/>
            <a:ext cx="1325880" cy="256032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ctr"/>
            <a:r>
              <a:rPr sz="1300" b="0">
                <a:solidFill>
                  <a:srgbClr val="2F353A"/>
                </a:solidFill>
                <a:latin typeface="Aptos"/>
              </a:rPr>
              <a:t>3.37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897879" y="4956048"/>
            <a:ext cx="12344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C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5943599" y="5074920"/>
            <a:ext cx="1143000" cy="256032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ctr"/>
            <a:r>
              <a:rPr sz="1300" b="0">
                <a:solidFill>
                  <a:srgbClr val="2F353A"/>
                </a:solidFill>
                <a:latin typeface="Aptos"/>
              </a:rPr>
              <a:t>0.414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132320" y="4956048"/>
            <a:ext cx="123444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C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7178040" y="5074920"/>
            <a:ext cx="1143000" cy="256032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ctr"/>
            <a:r>
              <a:rPr sz="1300" b="0">
                <a:solidFill>
                  <a:srgbClr val="2F353A"/>
                </a:solidFill>
                <a:latin typeface="Aptos"/>
              </a:rPr>
              <a:t>0.282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366760" y="4956048"/>
            <a:ext cx="150876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C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8412480" y="5074920"/>
            <a:ext cx="1417319" cy="256032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ctr"/>
            <a:r>
              <a:rPr sz="1300" b="0">
                <a:solidFill>
                  <a:srgbClr val="2F353A"/>
                </a:solidFill>
                <a:latin typeface="Aptos"/>
              </a:rPr>
              <a:t>0.395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31520" y="5504688"/>
            <a:ext cx="10744200" cy="566928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950" b="0">
                <a:solidFill>
                  <a:srgbClr val="646767"/>
                </a:solidFill>
                <a:latin typeface="Aptos"/>
              </a:rPr>
              <a:t>Remove = drop observations above the stated rule; Cap = retain all observations but replace values above the stated cap with the cap. LIS cap = 48.57 PPP/day; outdetect cap = 20.22 PPP/day.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31520" y="6089904"/>
            <a:ext cx="10744200" cy="27432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ctr"/>
            <a:r>
              <a:rPr sz="1200" b="1">
                <a:solidFill>
                  <a:srgbClr val="1E3043"/>
                </a:solidFill>
                <a:latin typeface="Aptos"/>
              </a:rPr>
              <a:t>All figures in this Malawi deep dive come from country/MWI_1997.dta; the GMD file is used separately for the global screening comparison.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02920" y="6510528"/>
            <a:ext cx="6400800" cy="164592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800" b="0">
                <a:solidFill>
                  <a:srgbClr val="646767"/>
                </a:solidFill>
                <a:latin typeface="Aptos"/>
              </a:rPr>
              <a:t>Top-censoring analysis | Malawi 1997 deep dive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869680" y="6510528"/>
            <a:ext cx="3108960" cy="164592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r"/>
            <a:r>
              <a:rPr sz="800" b="0">
                <a:solidFill>
                  <a:srgbClr val="646767"/>
                </a:solidFill>
                <a:latin typeface="Aptos"/>
              </a:rPr>
              <a:t>Internal working presentation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0698480" cy="421654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2500" b="1" dirty="0">
                <a:solidFill>
                  <a:srgbClr val="1E3043"/>
                </a:solidFill>
                <a:latin typeface="Aptos Display"/>
              </a:rPr>
              <a:t>Pareto diagnostic: is the upper tail regular?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32104"/>
            <a:ext cx="1005840" cy="54864"/>
          </a:xfrm>
          <a:prstGeom prst="rect">
            <a:avLst/>
          </a:prstGeom>
          <a:solidFill>
            <a:srgbClr val="2F81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0881360" cy="292608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1100" b="0">
                <a:solidFill>
                  <a:srgbClr val="646767"/>
                </a:solidFill>
                <a:latin typeface="Aptos"/>
              </a:rPr>
              <a:t>The fitted tail describes much of the upper distribution, but the largest observations sit well above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75720" y="347472"/>
            <a:ext cx="502920" cy="32004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r"/>
            <a:r>
              <a:rPr sz="1200" b="1">
                <a:solidFill>
                  <a:srgbClr val="2F8177"/>
                </a:solidFill>
                <a:latin typeface="Aptos"/>
              </a:rPr>
              <a:t>07</a:t>
            </a:r>
          </a:p>
        </p:txBody>
      </p:sp>
      <p:pic>
        <p:nvPicPr>
          <p:cNvPr id="6" name="Picture 5" descr="mwi_1997_pareto_without_tw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325880"/>
            <a:ext cx="6583680" cy="32918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589520" y="1508760"/>
            <a:ext cx="3657600" cy="32004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2100" b="1">
                <a:solidFill>
                  <a:srgbClr val="1E3043"/>
                </a:solidFill>
                <a:latin typeface="Aptos Display"/>
              </a:rPr>
              <a:t>What Pareto contributes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0" y="2103120"/>
            <a:ext cx="3657600" cy="438912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1500" b="0">
                <a:solidFill>
                  <a:srgbClr val="2F353A"/>
                </a:solidFill>
                <a:latin typeface="Aptos"/>
              </a:rPr>
              <a:t>•  Models the upper tail only, rather than imposing a Pareto law on the full distribution.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880360"/>
            <a:ext cx="3657600" cy="438912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1500" b="0">
                <a:solidFill>
                  <a:srgbClr val="2F353A"/>
                </a:solidFill>
                <a:latin typeface="Aptos"/>
              </a:rPr>
              <a:t>•  Provides a visual and quantitative benchmark for unusually large values.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0" y="3657600"/>
            <a:ext cx="3657600" cy="438912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1500" b="0">
                <a:solidFill>
                  <a:srgbClr val="2F353A"/>
                </a:solidFill>
                <a:latin typeface="Aptos"/>
              </a:rPr>
              <a:t>•  The two largest records are much more extreme than the fitted tail predicts.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0" y="4892040"/>
            <a:ext cx="3657600" cy="590931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1800" b="1" dirty="0">
                <a:solidFill>
                  <a:srgbClr val="AD463E"/>
                </a:solidFill>
                <a:latin typeface="Aptos"/>
              </a:rPr>
              <a:t>Conclusion: strong evidence of tail influence</a:t>
            </a:r>
            <a:r>
              <a:rPr lang="en-US" sz="1800" b="1" dirty="0">
                <a:solidFill>
                  <a:srgbClr val="AD463E"/>
                </a:solidFill>
                <a:latin typeface="Aptos"/>
              </a:rPr>
              <a:t>.</a:t>
            </a:r>
            <a:endParaRPr sz="1800" b="1" dirty="0">
              <a:solidFill>
                <a:srgbClr val="AD463E"/>
              </a:solidFill>
              <a:latin typeface="Apto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02920" y="6510528"/>
            <a:ext cx="6400800" cy="164592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800" b="0">
                <a:solidFill>
                  <a:srgbClr val="646767"/>
                </a:solidFill>
                <a:latin typeface="Aptos"/>
              </a:rPr>
              <a:t>Top-censoring analysis | Malawi 1997 deep dive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69680" y="6510528"/>
            <a:ext cx="3108960" cy="164592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r"/>
            <a:r>
              <a:rPr sz="800" b="0">
                <a:solidFill>
                  <a:srgbClr val="646767"/>
                </a:solidFill>
                <a:latin typeface="Aptos"/>
              </a:rPr>
              <a:t>Internal working presentation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0698480" cy="421654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2500" b="1" dirty="0">
                <a:solidFill>
                  <a:srgbClr val="1E3043"/>
                </a:solidFill>
                <a:latin typeface="Aptos Display"/>
              </a:rPr>
              <a:t>GB2 diagnostic: a flexible full-distribution benchmark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32104"/>
            <a:ext cx="1005840" cy="54864"/>
          </a:xfrm>
          <a:prstGeom prst="rect">
            <a:avLst/>
          </a:prstGeom>
          <a:solidFill>
            <a:srgbClr val="2F81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0881360" cy="292608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1100" b="0">
                <a:solidFill>
                  <a:srgbClr val="646767"/>
                </a:solidFill>
                <a:latin typeface="Aptos"/>
              </a:rPr>
              <a:t>The fitted distribution changes when extreme observations are removed.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75720" y="347472"/>
            <a:ext cx="502920" cy="32004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r"/>
            <a:r>
              <a:rPr sz="1200" b="1">
                <a:solidFill>
                  <a:srgbClr val="2F8177"/>
                </a:solidFill>
                <a:latin typeface="Aptos"/>
              </a:rPr>
              <a:t>08</a:t>
            </a:r>
          </a:p>
        </p:txBody>
      </p:sp>
      <p:pic>
        <p:nvPicPr>
          <p:cNvPr id="6" name="Picture 5" descr="gb2_observed_vs_fitted_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80160"/>
            <a:ext cx="6766560" cy="45110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635240" y="1508760"/>
            <a:ext cx="3657600" cy="32004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2100" b="1">
                <a:solidFill>
                  <a:srgbClr val="1E3043"/>
                </a:solidFill>
                <a:latin typeface="Aptos Display"/>
              </a:rPr>
              <a:t>Weighted maximum likelihood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2103120"/>
            <a:ext cx="3566160" cy="438912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1500" b="0">
                <a:solidFill>
                  <a:srgbClr val="2F353A"/>
                </a:solidFill>
                <a:latin typeface="Aptos"/>
              </a:rPr>
              <a:t>•  GB2 fitted to all positive Malawi 1997 welfare values.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788920"/>
            <a:ext cx="3566160" cy="438912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1500" b="0">
                <a:solidFill>
                  <a:srgbClr val="2F353A"/>
                </a:solidFill>
                <a:latin typeface="Aptos"/>
              </a:rPr>
              <a:t>•  Additional fits exclude the largest 1, 2, 5, 10 and 20 records.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474720"/>
            <a:ext cx="3566160" cy="438912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1500" b="0">
                <a:solidFill>
                  <a:srgbClr val="2F353A"/>
                </a:solidFill>
                <a:latin typeface="Aptos"/>
              </a:rPr>
              <a:t>•  The second-largest observation has an empirical survival probability about 166 times larger than the full-sample GB2 prediction.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4800600"/>
            <a:ext cx="3566160" cy="86868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1600" b="1">
                <a:solidFill>
                  <a:srgbClr val="AD463E"/>
                </a:solidFill>
                <a:latin typeface="Aptos"/>
              </a:rPr>
              <a:t>Diagnostic interpretation: the observations are unusually extreme relative to a smooth GB2 tail, but may still reflect genuine heterogeneity or measurement issues.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510528"/>
            <a:ext cx="6400800" cy="164592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800" b="0">
                <a:solidFill>
                  <a:srgbClr val="646767"/>
                </a:solidFill>
                <a:latin typeface="Aptos"/>
              </a:rPr>
              <a:t>Top-censoring analysis | Malawi 1997 deep dive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69680" y="6510528"/>
            <a:ext cx="3108960" cy="164592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r"/>
            <a:r>
              <a:rPr sz="800" b="0">
                <a:solidFill>
                  <a:srgbClr val="646767"/>
                </a:solidFill>
                <a:latin typeface="Aptos"/>
              </a:rPr>
              <a:t>Internal working presentation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0698480" cy="421654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lang="en-US" sz="2500" b="1" dirty="0">
                <a:solidFill>
                  <a:srgbClr val="1E3043"/>
                </a:solidFill>
                <a:latin typeface="Aptos Display"/>
              </a:rPr>
              <a:t>WIPPPP </a:t>
            </a:r>
            <a:r>
              <a:rPr sz="2500" b="1" dirty="0">
                <a:solidFill>
                  <a:srgbClr val="1E3043"/>
                </a:solidFill>
                <a:latin typeface="Aptos Display"/>
              </a:rPr>
              <a:t>Regression diagnostic: can characteristics explain the extremes?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32104"/>
            <a:ext cx="1005840" cy="54864"/>
          </a:xfrm>
          <a:prstGeom prst="rect">
            <a:avLst/>
          </a:prstGeom>
          <a:solidFill>
            <a:srgbClr val="2F81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0881360" cy="292608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1100" b="0">
                <a:solidFill>
                  <a:srgbClr val="646767"/>
                </a:solidFill>
                <a:latin typeface="Aptos"/>
              </a:rPr>
              <a:t>Cross-fitted predictions compare reported welfare with welfare expected from available household characteristics.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75720" y="347472"/>
            <a:ext cx="502920" cy="32004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r"/>
            <a:r>
              <a:rPr sz="1200" b="1">
                <a:solidFill>
                  <a:srgbClr val="2F8177"/>
                </a:solidFill>
                <a:latin typeface="Aptos"/>
              </a:rPr>
              <a:t>09</a:t>
            </a:r>
          </a:p>
        </p:txBody>
      </p:sp>
      <p:pic>
        <p:nvPicPr>
          <p:cNvPr id="6" name="Picture 5" descr="regression_observed_vs_predic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325880"/>
            <a:ext cx="6537960" cy="490347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635240" y="1508760"/>
            <a:ext cx="3474720" cy="292608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2100" b="1">
                <a:solidFill>
                  <a:srgbClr val="1E3043"/>
                </a:solidFill>
                <a:latin typeface="Aptos Display"/>
              </a:rPr>
              <a:t>Model used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2057400"/>
            <a:ext cx="3566160" cy="73152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1600" b="1">
                <a:solidFill>
                  <a:srgbClr val="2F353A"/>
                </a:solidFill>
                <a:latin typeface="Aptos"/>
              </a:rPr>
              <a:t>log(welfare) = urban + log(1 + household size) + subnational area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3063240"/>
            <a:ext cx="3566160" cy="438912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1500" b="0">
                <a:solidFill>
                  <a:srgbClr val="2F353A"/>
                </a:solidFill>
                <a:latin typeface="Aptos"/>
              </a:rPr>
              <a:t>•  Five-fold cross-fitting avoids comparing households with predictions from models trained on the same record.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840480"/>
            <a:ext cx="3566160" cy="438912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1500" b="0">
                <a:solidFill>
                  <a:srgbClr val="2F353A"/>
                </a:solidFill>
                <a:latin typeface="Aptos"/>
              </a:rPr>
              <a:t>•  Weighted cross-fitted R2: 0.389.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4434840"/>
            <a:ext cx="3566160" cy="438912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1500" b="0">
                <a:solidFill>
                  <a:srgbClr val="2F353A"/>
                </a:solidFill>
                <a:latin typeface="Aptos"/>
              </a:rPr>
              <a:t>•  118 households flagged, representing about 1.1% of sample weight.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35240" y="5257800"/>
            <a:ext cx="3566160" cy="59436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1500" b="1">
                <a:solidFill>
                  <a:srgbClr val="AD463E"/>
                </a:solidFill>
                <a:latin typeface="Aptos"/>
              </a:rPr>
              <a:t>A regression flag identifies an unusual conditional observation; it does not establish that the welfare report is erroneous.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510528"/>
            <a:ext cx="6400800" cy="164592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800" b="0">
                <a:solidFill>
                  <a:srgbClr val="646767"/>
                </a:solidFill>
                <a:latin typeface="Aptos"/>
              </a:rPr>
              <a:t>Top-censoring analysis | Malawi 1997 deep dive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0" y="6510528"/>
            <a:ext cx="3108960" cy="164592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r"/>
            <a:r>
              <a:rPr sz="800" b="0">
                <a:solidFill>
                  <a:srgbClr val="646767"/>
                </a:solidFill>
                <a:latin typeface="Aptos"/>
              </a:rPr>
              <a:t>Internal working presentation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320040"/>
            <a:ext cx="10698480" cy="421654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2500" b="1">
                <a:solidFill>
                  <a:srgbClr val="1E3043"/>
                </a:solidFill>
                <a:latin typeface="Aptos Display"/>
              </a:rPr>
              <a:t>Conclusions and next steps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32104"/>
            <a:ext cx="1005840" cy="54864"/>
          </a:xfrm>
          <a:prstGeom prst="rect">
            <a:avLst/>
          </a:prstGeom>
          <a:solidFill>
            <a:srgbClr val="2F81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932688"/>
            <a:ext cx="10881360" cy="292608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1100" b="0">
                <a:solidFill>
                  <a:srgbClr val="646767"/>
                </a:solidFill>
                <a:latin typeface="Aptos"/>
              </a:rPr>
              <a:t>The methods converge on influence and review, not automatic deletion.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75720" y="347472"/>
            <a:ext cx="502920" cy="32004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r"/>
            <a:r>
              <a:rPr sz="1200" b="1">
                <a:solidFill>
                  <a:srgbClr val="2F8177"/>
                </a:solidFill>
                <a:latin typeface="Aptos"/>
              </a:rP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3246120" cy="1645920"/>
          </a:xfrm>
          <a:prstGeom prst="roundRect">
            <a:avLst/>
          </a:prstGeom>
          <a:solidFill>
            <a:srgbClr val="F2EFE8"/>
          </a:solidFill>
          <a:ln>
            <a:solidFill>
              <a:srgbClr val="D8D1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31520" y="1371600"/>
            <a:ext cx="73152" cy="1645920"/>
          </a:xfrm>
          <a:prstGeom prst="rect">
            <a:avLst/>
          </a:prstGeom>
          <a:solidFill>
            <a:srgbClr val="AD46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32688" y="1527048"/>
            <a:ext cx="2953512" cy="22860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1100" b="1">
                <a:solidFill>
                  <a:srgbClr val="646767"/>
                </a:solidFill>
                <a:latin typeface="Aptos"/>
              </a:rPr>
              <a:t>MAIN FINDING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1810512"/>
            <a:ext cx="2953512" cy="566928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1800" b="1">
                <a:solidFill>
                  <a:srgbClr val="1E3043"/>
                </a:solidFill>
                <a:latin typeface="Aptos"/>
              </a:rPr>
              <a:t>Tail influence is real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432304"/>
            <a:ext cx="2953512" cy="585215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1000" b="0">
                <a:solidFill>
                  <a:srgbClr val="2F353A"/>
                </a:solidFill>
                <a:latin typeface="Aptos"/>
              </a:rPr>
              <a:t>A very small group can dominate means and inequality measures.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0560" y="1371600"/>
            <a:ext cx="3246120" cy="1645920"/>
          </a:xfrm>
          <a:prstGeom prst="roundRect">
            <a:avLst/>
          </a:prstGeom>
          <a:solidFill>
            <a:srgbClr val="F2EFE8"/>
          </a:solidFill>
          <a:ln>
            <a:solidFill>
              <a:srgbClr val="D8D1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480560" y="1371600"/>
            <a:ext cx="73152" cy="1645920"/>
          </a:xfrm>
          <a:prstGeom prst="rect">
            <a:avLst/>
          </a:prstGeom>
          <a:solidFill>
            <a:srgbClr val="2F81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681728" y="1527048"/>
            <a:ext cx="2953512" cy="22860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1100" b="1">
                <a:solidFill>
                  <a:srgbClr val="646767"/>
                </a:solidFill>
                <a:latin typeface="Aptos"/>
              </a:rPr>
              <a:t>ROBUSTNESS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81728" y="1810512"/>
            <a:ext cx="2953512" cy="566928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1800" b="1">
                <a:solidFill>
                  <a:srgbClr val="1E3043"/>
                </a:solidFill>
                <a:latin typeface="Aptos"/>
              </a:rPr>
              <a:t>Methods agree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81728" y="2432304"/>
            <a:ext cx="2953512" cy="585215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1000" b="0">
                <a:solidFill>
                  <a:srgbClr val="2F353A"/>
                </a:solidFill>
                <a:latin typeface="Aptos"/>
              </a:rPr>
              <a:t>LIS, outdetect, Pareto, GB2 and regression identify Malawi 1997 as a priority case.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0" y="1371600"/>
            <a:ext cx="3246120" cy="1645920"/>
          </a:xfrm>
          <a:prstGeom prst="roundRect">
            <a:avLst/>
          </a:prstGeom>
          <a:solidFill>
            <a:srgbClr val="F2EFE8"/>
          </a:solidFill>
          <a:ln>
            <a:solidFill>
              <a:srgbClr val="D8D1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229600" y="1371600"/>
            <a:ext cx="73152" cy="1645920"/>
          </a:xfrm>
          <a:prstGeom prst="rect">
            <a:avLst/>
          </a:prstGeom>
          <a:solidFill>
            <a:srgbClr val="2C69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430768" y="1527048"/>
            <a:ext cx="2953512" cy="22860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1100" b="1">
                <a:solidFill>
                  <a:srgbClr val="646767"/>
                </a:solidFill>
                <a:latin typeface="Aptos"/>
              </a:rPr>
              <a:t>RECOMMENDATION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0768" y="1810512"/>
            <a:ext cx="2953512" cy="566928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1800" b="1">
                <a:solidFill>
                  <a:srgbClr val="1E3043"/>
                </a:solidFill>
                <a:latin typeface="Aptos"/>
              </a:rPr>
              <a:t>Treat, do not delete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0768" y="2432304"/>
            <a:ext cx="2953512" cy="585215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1000" b="0">
                <a:solidFill>
                  <a:srgbClr val="2F353A"/>
                </a:solidFill>
                <a:latin typeface="Aptos"/>
              </a:rPr>
              <a:t>Report the baseline and transparent top-tail sensitivity results together.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3703320"/>
            <a:ext cx="3291840" cy="32004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2100" b="1">
                <a:solidFill>
                  <a:srgbClr val="1E3043"/>
                </a:solidFill>
                <a:latin typeface="Aptos Display"/>
              </a:rPr>
              <a:t>Recommended next steps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4251960"/>
            <a:ext cx="4846320" cy="438912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1600" b="0">
                <a:solidFill>
                  <a:srgbClr val="2F353A"/>
                </a:solidFill>
                <a:latin typeface="Aptos"/>
              </a:rPr>
              <a:t>•  Check the flagged Malawi records against the source survey and welfare construction.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4800600"/>
            <a:ext cx="4846320" cy="438912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1600" b="0">
                <a:solidFill>
                  <a:srgbClr val="2F353A"/>
                </a:solidFill>
                <a:latin typeface="Aptos"/>
              </a:rPr>
              <a:t>•  Replicate the treatment comparison for Belize 1993 and 1997.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5349240"/>
            <a:ext cx="4846320" cy="438912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1600" b="0">
                <a:solidFill>
                  <a:srgbClr val="2F353A"/>
                </a:solidFill>
                <a:latin typeface="Aptos"/>
              </a:rPr>
              <a:t>•  Document the chosen rule and its effect on mean, inequality and poverty indicators.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46520" y="3703320"/>
            <a:ext cx="2011680" cy="32004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2100" b="1">
                <a:solidFill>
                  <a:srgbClr val="1E3043"/>
                </a:solidFill>
                <a:latin typeface="Aptos Display"/>
              </a:rPr>
              <a:t>Bottom line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6520" y="4251960"/>
            <a:ext cx="4663440" cy="1325880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2100" b="1">
                <a:solidFill>
                  <a:srgbClr val="1E3043"/>
                </a:solidFill>
                <a:latin typeface="Aptos Display"/>
              </a:rPr>
              <a:t>The evidence supports a transparent top-coding or Pareto-based sensitivity treatment for reporting, while preserving the original observations until their validity has been reviewed.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510528"/>
            <a:ext cx="6400800" cy="164592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l"/>
            <a:r>
              <a:rPr sz="800" b="0">
                <a:solidFill>
                  <a:srgbClr val="646767"/>
                </a:solidFill>
                <a:latin typeface="Aptos"/>
              </a:rPr>
              <a:t>Top-censoring analysis | Malawi 1997 deep dive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69680" y="6510528"/>
            <a:ext cx="3108960" cy="164592"/>
          </a:xfrm>
          <a:prstGeom prst="rect">
            <a:avLst/>
          </a:prstGeom>
          <a:noFill/>
        </p:spPr>
        <p:txBody>
          <a:bodyPr wrap="square" lIns="36576" tIns="18288" rIns="36576" bIns="18288">
            <a:spAutoFit/>
          </a:bodyPr>
          <a:lstStyle/>
          <a:p>
            <a:pPr algn="r"/>
            <a:r>
              <a:rPr sz="800" b="0">
                <a:solidFill>
                  <a:srgbClr val="646767"/>
                </a:solidFill>
                <a:latin typeface="Aptos"/>
              </a:rPr>
              <a:t>Internal working presentation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1369</Words>
  <Application>Microsoft Office PowerPoint</Application>
  <PresentationFormat>Widescreen</PresentationFormat>
  <Paragraphs>200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Aptos</vt:lpstr>
      <vt:lpstr>Aptos Display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Daniela Avayu Zaliasnik</cp:lastModifiedBy>
  <cp:revision>1</cp:revision>
  <dcterms:created xsi:type="dcterms:W3CDTF">2013-01-27T09:14:16Z</dcterms:created>
  <dcterms:modified xsi:type="dcterms:W3CDTF">2026-09-13T00:02:44Z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f1bf45b6-5649-4236-82a3-f45024cd282e_Enabled">
    <vt:lpwstr>true</vt:lpwstr>
  </property>
  <property fmtid="{D5CDD505-2E9C-101B-9397-08002B2CF9AE}" pid="3" name="MSIP_Label_f1bf45b6-5649-4236-82a3-f45024cd282e_SetDate">
    <vt:lpwstr>2026-09-12T22:52:02Z</vt:lpwstr>
  </property>
  <property fmtid="{D5CDD505-2E9C-101B-9397-08002B2CF9AE}" pid="4" name="MSIP_Label_f1bf45b6-5649-4236-82a3-f45024cd282e_Method">
    <vt:lpwstr>Standard</vt:lpwstr>
  </property>
  <property fmtid="{D5CDD505-2E9C-101B-9397-08002B2CF9AE}" pid="5" name="MSIP_Label_f1bf45b6-5649-4236-82a3-f45024cd282e_Name">
    <vt:lpwstr>Official Use Only</vt:lpwstr>
  </property>
  <property fmtid="{D5CDD505-2E9C-101B-9397-08002B2CF9AE}" pid="6" name="MSIP_Label_f1bf45b6-5649-4236-82a3-f45024cd282e_SiteId">
    <vt:lpwstr>31a2fec0-266b-4c67-b56e-2796d8f59c36</vt:lpwstr>
  </property>
  <property fmtid="{D5CDD505-2E9C-101B-9397-08002B2CF9AE}" pid="7" name="MSIP_Label_f1bf45b6-5649-4236-82a3-f45024cd282e_ActionId">
    <vt:lpwstr>d44c3bb2-ce39-41d5-928a-dfed20b6b965</vt:lpwstr>
  </property>
  <property fmtid="{D5CDD505-2E9C-101B-9397-08002B2CF9AE}" pid="8" name="MSIP_Label_f1bf45b6-5649-4236-82a3-f45024cd282e_ContentBits">
    <vt:lpwstr>2</vt:lpwstr>
  </property>
  <property fmtid="{D5CDD505-2E9C-101B-9397-08002B2CF9AE}" pid="9" name="MSIP_Label_f1bf45b6-5649-4236-82a3-f45024cd282e_Tag">
    <vt:lpwstr>10, 3, 0, 1</vt:lpwstr>
  </property>
  <property fmtid="{D5CDD505-2E9C-101B-9397-08002B2CF9AE}" pid="10" name="ClassificationContentMarkingFooterLocations">
    <vt:lpwstr>Office Theme:8</vt:lpwstr>
  </property>
  <property fmtid="{D5CDD505-2E9C-101B-9397-08002B2CF9AE}" pid="11" name="ClassificationContentMarkingFooterText">
    <vt:lpwstr>Official Use Only</vt:lpwstr>
  </property>
</Properties>
</file>