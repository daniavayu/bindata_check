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73" r:id="rId3"/>
    <p:sldId id="274" r:id="rId4"/>
    <p:sldId id="275" r:id="rId5"/>
    <p:sldId id="286" r:id="rId6"/>
    <p:sldId id="277" r:id="rId7"/>
    <p:sldId id="278" r:id="rId8"/>
    <p:sldId id="279" r:id="rId9"/>
    <p:sldId id="280" r:id="rId10"/>
    <p:sldId id="281" r:id="rId11"/>
    <p:sldId id="282" r:id="rId12"/>
    <p:sldId id="283" r:id="rId13"/>
    <p:sldId id="284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27B63E1D-4D0D-B272-D485-03F1A374B523}" name="Daniela Avayu Zaliasnik" initials="DZ" userId="S::davayuzaliasnik@worldbank.org::9c27548f-6c4b-4161-bdb9-08ba1fd3ef5b" providerId="AD"/>
  <p188:author id="{4DA23698-8559-E570-B336-1B30457FDD96}" name="Yuki Kimura" initials="YK" userId="S::ykimura1@worldbank.org::a306b4f0-8a89-4c21-a4e1-90ebae66f2a9" providerId="AD"/>
  <p188:author id="{7183ADF9-40AC-412B-03F2-F13C5975A919}" name="Nishant Yonzan" initials="NY" userId="S::nyonzan@worldbank.org::3bdbdd72-ed93-479d-9dd5-433cc0b4cc1c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740F50-A2E7-43E9-A51B-FCC16462EEA3}" v="440" dt="2026-09-16T01:01:05.699"/>
    <p1510:client id="{A84A4361-6EC9-1102-8EF8-A760A652A26A}" v="4" dt="2026-09-17T17:41:17.090"/>
    <p1510:client id="{DF97D03A-8F43-9304-AD3F-C13FF2D15918}" v="519" dt="2026-09-15T23:47:50.780"/>
    <p1510:client id="{E045D225-47A8-347D-734E-2D1C7471F26E}" v="343" dt="2026-09-16T00:53:49.48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8/10/relationships/authors" Target="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niela Avayu Zaliasnik" userId="S::davayuzaliasnik@worldbank.org::9c27548f-6c4b-4161-bdb9-08ba1fd3ef5b" providerId="AD" clId="Web-{DF97D03A-8F43-9304-AD3F-C13FF2D15918}"/>
    <pc:docChg chg="mod addSld delSld modSld">
      <pc:chgData name="Daniela Avayu Zaliasnik" userId="S::davayuzaliasnik@worldbank.org::9c27548f-6c4b-4161-bdb9-08ba1fd3ef5b" providerId="AD" clId="Web-{DF97D03A-8F43-9304-AD3F-C13FF2D15918}" dt="2026-09-15T23:47:50.530" v="279" actId="14100"/>
      <pc:docMkLst>
        <pc:docMk/>
      </pc:docMkLst>
      <pc:sldChg chg="modSp">
        <pc:chgData name="Daniela Avayu Zaliasnik" userId="S::davayuzaliasnik@worldbank.org::9c27548f-6c4b-4161-bdb9-08ba1fd3ef5b" providerId="AD" clId="Web-{DF97D03A-8F43-9304-AD3F-C13FF2D15918}" dt="2026-09-15T23:47:50.530" v="279" actId="14100"/>
        <pc:sldMkLst>
          <pc:docMk/>
          <pc:sldMk cId="0" sldId="256"/>
        </pc:sldMkLst>
        <pc:spChg chg="mod">
          <ac:chgData name="Daniela Avayu Zaliasnik" userId="S::davayuzaliasnik@worldbank.org::9c27548f-6c4b-4161-bdb9-08ba1fd3ef5b" providerId="AD" clId="Web-{DF97D03A-8F43-9304-AD3F-C13FF2D15918}" dt="2026-09-15T23:47:50.530" v="279" actId="14100"/>
          <ac:spMkLst>
            <pc:docMk/>
            <pc:sldMk cId="0" sldId="256"/>
            <ac:spMk id="6" creationId="{00000000-0000-0000-0000-000000000000}"/>
          </ac:spMkLst>
        </pc:spChg>
      </pc:sldChg>
      <pc:sldChg chg="modSp">
        <pc:chgData name="Daniela Avayu Zaliasnik" userId="S::davayuzaliasnik@worldbank.org::9c27548f-6c4b-4161-bdb9-08ba1fd3ef5b" providerId="AD" clId="Web-{DF97D03A-8F43-9304-AD3F-C13FF2D15918}" dt="2026-09-15T23:47:24.202" v="270" actId="20577"/>
        <pc:sldMkLst>
          <pc:docMk/>
          <pc:sldMk cId="0" sldId="273"/>
        </pc:sldMkLst>
        <pc:spChg chg="mod">
          <ac:chgData name="Daniela Avayu Zaliasnik" userId="S::davayuzaliasnik@worldbank.org::9c27548f-6c4b-4161-bdb9-08ba1fd3ef5b" providerId="AD" clId="Web-{DF97D03A-8F43-9304-AD3F-C13FF2D15918}" dt="2026-09-15T23:47:24.202" v="270" actId="20577"/>
          <ac:spMkLst>
            <pc:docMk/>
            <pc:sldMk cId="0" sldId="273"/>
            <ac:spMk id="18" creationId="{00000000-0000-0000-0000-000000000000}"/>
          </ac:spMkLst>
        </pc:spChg>
      </pc:sldChg>
    </pc:docChg>
  </pc:docChgLst>
  <pc:docChgLst>
    <pc:chgData name="Yuki Kimura" userId="S::ykimura1@worldbank.org::a306b4f0-8a89-4c21-a4e1-90ebae66f2a9" providerId="AD" clId="Web-{33923EA7-28BF-CE97-1916-32F99800504F}"/>
    <pc:docChg chg="mod modSld">
      <pc:chgData name="Yuki Kimura" userId="S::ykimura1@worldbank.org::a306b4f0-8a89-4c21-a4e1-90ebae66f2a9" providerId="AD" clId="Web-{33923EA7-28BF-CE97-1916-32F99800504F}" dt="2026-09-14T18:02:18.741" v="28"/>
      <pc:docMkLst>
        <pc:docMk/>
      </pc:docMkLst>
    </pc:docChg>
  </pc:docChgLst>
  <pc:docChgLst>
    <pc:chgData name="Daniela Avayu Zaliasnik" userId="9c27548f-6c4b-4161-bdb9-08ba1fd3ef5b" providerId="ADAL" clId="{42E25D42-D604-47A2-96A3-5D3B4D275292}"/>
    <pc:docChg chg="undo custSel mod addSld delSld modSld sldOrd modMainMaster">
      <pc:chgData name="Daniela Avayu Zaliasnik" userId="9c27548f-6c4b-4161-bdb9-08ba1fd3ef5b" providerId="ADAL" clId="{42E25D42-D604-47A2-96A3-5D3B4D275292}" dt="2026-09-16T01:01:05.699" v="793" actId="1035"/>
      <pc:docMkLst>
        <pc:docMk/>
      </pc:docMkLst>
      <pc:sldChg chg="modSp mod">
        <pc:chgData name="Daniela Avayu Zaliasnik" userId="9c27548f-6c4b-4161-bdb9-08ba1fd3ef5b" providerId="ADAL" clId="{42E25D42-D604-47A2-96A3-5D3B4D275292}" dt="2026-09-12T22:52:47.976" v="30" actId="20577"/>
        <pc:sldMkLst>
          <pc:docMk/>
          <pc:sldMk cId="0" sldId="256"/>
        </pc:sldMkLst>
        <pc:spChg chg="mod">
          <ac:chgData name="Daniela Avayu Zaliasnik" userId="9c27548f-6c4b-4161-bdb9-08ba1fd3ef5b" providerId="ADAL" clId="{42E25D42-D604-47A2-96A3-5D3B4D275292}" dt="2026-09-12T22:52:47.976" v="30" actId="20577"/>
          <ac:spMkLst>
            <pc:docMk/>
            <pc:sldMk cId="0" sldId="256"/>
            <ac:spMk id="6" creationId="{00000000-0000-0000-0000-000000000000}"/>
          </ac:spMkLst>
        </pc:spChg>
      </pc:sldChg>
      <pc:sldChg chg="delSp modSp add mod setBg">
        <pc:chgData name="Daniela Avayu Zaliasnik" userId="9c27548f-6c4b-4161-bdb9-08ba1fd3ef5b" providerId="ADAL" clId="{42E25D42-D604-47A2-96A3-5D3B4D275292}" dt="2026-09-15T23:52:07.142" v="389" actId="478"/>
        <pc:sldMkLst>
          <pc:docMk/>
          <pc:sldMk cId="0" sldId="273"/>
        </pc:sldMkLst>
        <pc:spChg chg="mod">
          <ac:chgData name="Daniela Avayu Zaliasnik" userId="9c27548f-6c4b-4161-bdb9-08ba1fd3ef5b" providerId="ADAL" clId="{42E25D42-D604-47A2-96A3-5D3B4D275292}" dt="2026-09-15T23:37:09.218" v="365" actId="1035"/>
          <ac:spMkLst>
            <pc:docMk/>
            <pc:sldMk cId="0" sldId="273"/>
            <ac:spMk id="10" creationId="{00000000-0000-0000-0000-000000000000}"/>
          </ac:spMkLst>
        </pc:spChg>
        <pc:spChg chg="mod">
          <ac:chgData name="Daniela Avayu Zaliasnik" userId="9c27548f-6c4b-4161-bdb9-08ba1fd3ef5b" providerId="ADAL" clId="{42E25D42-D604-47A2-96A3-5D3B4D275292}" dt="2026-09-15T23:37:09.218" v="365" actId="1035"/>
          <ac:spMkLst>
            <pc:docMk/>
            <pc:sldMk cId="0" sldId="273"/>
            <ac:spMk id="15" creationId="{00000000-0000-0000-0000-000000000000}"/>
          </ac:spMkLst>
        </pc:spChg>
        <pc:spChg chg="mod">
          <ac:chgData name="Daniela Avayu Zaliasnik" userId="9c27548f-6c4b-4161-bdb9-08ba1fd3ef5b" providerId="ADAL" clId="{42E25D42-D604-47A2-96A3-5D3B4D275292}" dt="2026-09-15T23:37:09.218" v="365" actId="1035"/>
          <ac:spMkLst>
            <pc:docMk/>
            <pc:sldMk cId="0" sldId="273"/>
            <ac:spMk id="20" creationId="{00000000-0000-0000-0000-000000000000}"/>
          </ac:spMkLst>
        </pc:spChg>
        <pc:spChg chg="mod">
          <ac:chgData name="Daniela Avayu Zaliasnik" userId="9c27548f-6c4b-4161-bdb9-08ba1fd3ef5b" providerId="ADAL" clId="{42E25D42-D604-47A2-96A3-5D3B4D275292}" dt="2026-09-15T23:37:09.218" v="365" actId="1035"/>
          <ac:spMkLst>
            <pc:docMk/>
            <pc:sldMk cId="0" sldId="273"/>
            <ac:spMk id="25" creationId="{00000000-0000-0000-0000-000000000000}"/>
          </ac:spMkLst>
        </pc:spChg>
      </pc:sldChg>
      <pc:sldChg chg="delSp modSp add mod setBg">
        <pc:chgData name="Daniela Avayu Zaliasnik" userId="9c27548f-6c4b-4161-bdb9-08ba1fd3ef5b" providerId="ADAL" clId="{42E25D42-D604-47A2-96A3-5D3B4D275292}" dt="2026-09-15T23:52:11.334" v="390" actId="478"/>
        <pc:sldMkLst>
          <pc:docMk/>
          <pc:sldMk cId="0" sldId="274"/>
        </pc:sldMkLst>
        <pc:spChg chg="mod">
          <ac:chgData name="Daniela Avayu Zaliasnik" userId="9c27548f-6c4b-4161-bdb9-08ba1fd3ef5b" providerId="ADAL" clId="{42E25D42-D604-47A2-96A3-5D3B4D275292}" dt="2026-09-15T23:40:49.326" v="381" actId="255"/>
          <ac:spMkLst>
            <pc:docMk/>
            <pc:sldMk cId="0" sldId="274"/>
            <ac:spMk id="30" creationId="{00000000-0000-0000-0000-000000000000}"/>
          </ac:spMkLst>
        </pc:spChg>
      </pc:sldChg>
      <pc:sldChg chg="add setBg">
        <pc:chgData name="Daniela Avayu Zaliasnik" userId="9c27548f-6c4b-4161-bdb9-08ba1fd3ef5b" providerId="ADAL" clId="{42E25D42-D604-47A2-96A3-5D3B4D275292}" dt="2026-09-15T23:38:52.950" v="369"/>
        <pc:sldMkLst>
          <pc:docMk/>
          <pc:sldMk cId="0" sldId="275"/>
        </pc:sldMkLst>
      </pc:sldChg>
      <pc:sldChg chg="modSp add del mod ord setBg">
        <pc:chgData name="Daniela Avayu Zaliasnik" userId="9c27548f-6c4b-4161-bdb9-08ba1fd3ef5b" providerId="ADAL" clId="{42E25D42-D604-47A2-96A3-5D3B4D275292}" dt="2026-09-16T00:32:04.845" v="425" actId="47"/>
        <pc:sldMkLst>
          <pc:docMk/>
          <pc:sldMk cId="0" sldId="276"/>
        </pc:sldMkLst>
        <pc:spChg chg="mod">
          <ac:chgData name="Daniela Avayu Zaliasnik" userId="9c27548f-6c4b-4161-bdb9-08ba1fd3ef5b" providerId="ADAL" clId="{42E25D42-D604-47A2-96A3-5D3B4D275292}" dt="2026-09-16T00:27:02.163" v="422" actId="20577"/>
          <ac:spMkLst>
            <pc:docMk/>
            <pc:sldMk cId="0" sldId="276"/>
            <ac:spMk id="4" creationId="{00000000-0000-0000-0000-000000000000}"/>
          </ac:spMkLst>
        </pc:spChg>
      </pc:sldChg>
      <pc:sldChg chg="addSp delSp modSp add mod setBg">
        <pc:chgData name="Daniela Avayu Zaliasnik" userId="9c27548f-6c4b-4161-bdb9-08ba1fd3ef5b" providerId="ADAL" clId="{42E25D42-D604-47A2-96A3-5D3B4D275292}" dt="2026-09-16T01:01:05.699" v="793" actId="1035"/>
        <pc:sldMkLst>
          <pc:docMk/>
          <pc:sldMk cId="0" sldId="277"/>
        </pc:sldMkLst>
        <pc:spChg chg="mod">
          <ac:chgData name="Daniela Avayu Zaliasnik" userId="9c27548f-6c4b-4161-bdb9-08ba1fd3ef5b" providerId="ADAL" clId="{42E25D42-D604-47A2-96A3-5D3B4D275292}" dt="2026-09-16T00:43:29.754" v="535" actId="20577"/>
          <ac:spMkLst>
            <pc:docMk/>
            <pc:sldMk cId="0" sldId="277"/>
            <ac:spMk id="2" creationId="{00000000-0000-0000-0000-000000000000}"/>
          </ac:spMkLst>
        </pc:spChg>
        <pc:spChg chg="del">
          <ac:chgData name="Daniela Avayu Zaliasnik" userId="9c27548f-6c4b-4161-bdb9-08ba1fd3ef5b" providerId="ADAL" clId="{42E25D42-D604-47A2-96A3-5D3B4D275292}" dt="2026-09-16T00:48:19.310" v="538" actId="478"/>
          <ac:spMkLst>
            <pc:docMk/>
            <pc:sldMk cId="0" sldId="277"/>
            <ac:spMk id="4" creationId="{00000000-0000-0000-0000-000000000000}"/>
          </ac:spMkLst>
        </pc:spChg>
        <pc:spChg chg="mod">
          <ac:chgData name="Daniela Avayu Zaliasnik" userId="9c27548f-6c4b-4161-bdb9-08ba1fd3ef5b" providerId="ADAL" clId="{42E25D42-D604-47A2-96A3-5D3B4D275292}" dt="2026-09-16T00:48:44.850" v="591" actId="1035"/>
          <ac:spMkLst>
            <pc:docMk/>
            <pc:sldMk cId="0" sldId="277"/>
            <ac:spMk id="6" creationId="{00000000-0000-0000-0000-000000000000}"/>
          </ac:spMkLst>
        </pc:spChg>
        <pc:spChg chg="mod">
          <ac:chgData name="Daniela Avayu Zaliasnik" userId="9c27548f-6c4b-4161-bdb9-08ba1fd3ef5b" providerId="ADAL" clId="{42E25D42-D604-47A2-96A3-5D3B4D275292}" dt="2026-09-16T00:49:21.868" v="686" actId="5793"/>
          <ac:spMkLst>
            <pc:docMk/>
            <pc:sldMk cId="0" sldId="277"/>
            <ac:spMk id="7" creationId="{00000000-0000-0000-0000-000000000000}"/>
          </ac:spMkLst>
        </pc:spChg>
        <pc:spChg chg="mod">
          <ac:chgData name="Daniela Avayu Zaliasnik" userId="9c27548f-6c4b-4161-bdb9-08ba1fd3ef5b" providerId="ADAL" clId="{42E25D42-D604-47A2-96A3-5D3B4D275292}" dt="2026-09-16T01:00:53.249" v="747" actId="255"/>
          <ac:spMkLst>
            <pc:docMk/>
            <pc:sldMk cId="0" sldId="277"/>
            <ac:spMk id="8" creationId="{00000000-0000-0000-0000-000000000000}"/>
          </ac:spMkLst>
        </pc:spChg>
        <pc:spChg chg="del">
          <ac:chgData name="Daniela Avayu Zaliasnik" userId="9c27548f-6c4b-4161-bdb9-08ba1fd3ef5b" providerId="ADAL" clId="{42E25D42-D604-47A2-96A3-5D3B4D275292}" dt="2026-09-16T00:55:33.615" v="728" actId="478"/>
          <ac:spMkLst>
            <pc:docMk/>
            <pc:sldMk cId="0" sldId="277"/>
            <ac:spMk id="9" creationId="{00000000-0000-0000-0000-000000000000}"/>
          </ac:spMkLst>
        </pc:spChg>
        <pc:spChg chg="del">
          <ac:chgData name="Daniela Avayu Zaliasnik" userId="9c27548f-6c4b-4161-bdb9-08ba1fd3ef5b" providerId="ADAL" clId="{42E25D42-D604-47A2-96A3-5D3B4D275292}" dt="2026-09-16T00:55:33.615" v="728" actId="478"/>
          <ac:spMkLst>
            <pc:docMk/>
            <pc:sldMk cId="0" sldId="277"/>
            <ac:spMk id="10" creationId="{00000000-0000-0000-0000-000000000000}"/>
          </ac:spMkLst>
        </pc:spChg>
        <pc:spChg chg="del">
          <ac:chgData name="Daniela Avayu Zaliasnik" userId="9c27548f-6c4b-4161-bdb9-08ba1fd3ef5b" providerId="ADAL" clId="{42E25D42-D604-47A2-96A3-5D3B4D275292}" dt="2026-09-16T00:55:35.705" v="729" actId="478"/>
          <ac:spMkLst>
            <pc:docMk/>
            <pc:sldMk cId="0" sldId="277"/>
            <ac:spMk id="11" creationId="{00000000-0000-0000-0000-000000000000}"/>
          </ac:spMkLst>
        </pc:spChg>
        <pc:spChg chg="del">
          <ac:chgData name="Daniela Avayu Zaliasnik" userId="9c27548f-6c4b-4161-bdb9-08ba1fd3ef5b" providerId="ADAL" clId="{42E25D42-D604-47A2-96A3-5D3B4D275292}" dt="2026-09-16T01:00:22.044" v="743" actId="478"/>
          <ac:spMkLst>
            <pc:docMk/>
            <pc:sldMk cId="0" sldId="277"/>
            <ac:spMk id="13" creationId="{00000000-0000-0000-0000-000000000000}"/>
          </ac:spMkLst>
        </pc:spChg>
        <pc:spChg chg="add mod">
          <ac:chgData name="Daniela Avayu Zaliasnik" userId="9c27548f-6c4b-4161-bdb9-08ba1fd3ef5b" providerId="ADAL" clId="{42E25D42-D604-47A2-96A3-5D3B4D275292}" dt="2026-09-16T00:48:54.462" v="634" actId="20577"/>
          <ac:spMkLst>
            <pc:docMk/>
            <pc:sldMk cId="0" sldId="277"/>
            <ac:spMk id="17" creationId="{EFC968AA-431E-B00C-330B-0B94EACA94BC}"/>
          </ac:spMkLst>
        </pc:spChg>
        <pc:spChg chg="add mod">
          <ac:chgData name="Daniela Avayu Zaliasnik" userId="9c27548f-6c4b-4161-bdb9-08ba1fd3ef5b" providerId="ADAL" clId="{42E25D42-D604-47A2-96A3-5D3B4D275292}" dt="2026-09-16T00:54:00.538" v="726" actId="1037"/>
          <ac:spMkLst>
            <pc:docMk/>
            <pc:sldMk cId="0" sldId="277"/>
            <ac:spMk id="19" creationId="{8896BD9F-5A17-51AA-4C07-F10797B9D93B}"/>
          </ac:spMkLst>
        </pc:spChg>
        <pc:spChg chg="mod">
          <ac:chgData name="Daniela Avayu Zaliasnik" userId="9c27548f-6c4b-4161-bdb9-08ba1fd3ef5b" providerId="ADAL" clId="{42E25D42-D604-47A2-96A3-5D3B4D275292}" dt="2026-09-16T01:01:02.404" v="770" actId="1036"/>
          <ac:spMkLst>
            <pc:docMk/>
            <pc:sldMk cId="0" sldId="277"/>
            <ac:spMk id="22" creationId="{00000000-0000-0000-0000-000000000000}"/>
          </ac:spMkLst>
        </pc:spChg>
        <pc:spChg chg="mod">
          <ac:chgData name="Daniela Avayu Zaliasnik" userId="9c27548f-6c4b-4161-bdb9-08ba1fd3ef5b" providerId="ADAL" clId="{42E25D42-D604-47A2-96A3-5D3B4D275292}" dt="2026-09-16T01:01:02.404" v="770" actId="1036"/>
          <ac:spMkLst>
            <pc:docMk/>
            <pc:sldMk cId="0" sldId="277"/>
            <ac:spMk id="23" creationId="{00000000-0000-0000-0000-000000000000}"/>
          </ac:spMkLst>
        </pc:spChg>
        <pc:spChg chg="mod">
          <ac:chgData name="Daniela Avayu Zaliasnik" userId="9c27548f-6c4b-4161-bdb9-08ba1fd3ef5b" providerId="ADAL" clId="{42E25D42-D604-47A2-96A3-5D3B4D275292}" dt="2026-09-16T01:01:05.699" v="793" actId="1035"/>
          <ac:spMkLst>
            <pc:docMk/>
            <pc:sldMk cId="0" sldId="277"/>
            <ac:spMk id="24" creationId="{00000000-0000-0000-0000-000000000000}"/>
          </ac:spMkLst>
        </pc:spChg>
        <pc:graphicFrameChg chg="add mod">
          <ac:chgData name="Daniela Avayu Zaliasnik" userId="9c27548f-6c4b-4161-bdb9-08ba1fd3ef5b" providerId="ADAL" clId="{42E25D42-D604-47A2-96A3-5D3B4D275292}" dt="2026-09-16T01:01:05.699" v="793" actId="1035"/>
          <ac:graphicFrameMkLst>
            <pc:docMk/>
            <pc:sldMk cId="0" sldId="277"/>
            <ac:graphicFrameMk id="9" creationId="{EFF6B640-5F99-FB41-B4B6-8344F757E61B}"/>
          </ac:graphicFrameMkLst>
        </pc:graphicFrameChg>
        <pc:graphicFrameChg chg="del">
          <ac:chgData name="Daniela Avayu Zaliasnik" userId="9c27548f-6c4b-4161-bdb9-08ba1fd3ef5b" providerId="ADAL" clId="{42E25D42-D604-47A2-96A3-5D3B4D275292}" dt="2026-09-16T00:55:31.121" v="727" actId="478"/>
          <ac:graphicFrameMkLst>
            <pc:docMk/>
            <pc:sldMk cId="0" sldId="277"/>
            <ac:graphicFrameMk id="12" creationId="{00000000-0000-0000-0000-000000000000}"/>
          </ac:graphicFrameMkLst>
        </pc:graphicFrameChg>
      </pc:sldChg>
      <pc:sldChg chg="modSp add mod setBg">
        <pc:chgData name="Daniela Avayu Zaliasnik" userId="9c27548f-6c4b-4161-bdb9-08ba1fd3ef5b" providerId="ADAL" clId="{42E25D42-D604-47A2-96A3-5D3B4D275292}" dt="2026-09-16T00:33:20.722" v="472" actId="20577"/>
        <pc:sldMkLst>
          <pc:docMk/>
          <pc:sldMk cId="0" sldId="278"/>
        </pc:sldMkLst>
        <pc:spChg chg="mod">
          <ac:chgData name="Daniela Avayu Zaliasnik" userId="9c27548f-6c4b-4161-bdb9-08ba1fd3ef5b" providerId="ADAL" clId="{42E25D42-D604-47A2-96A3-5D3B4D275292}" dt="2026-09-16T00:33:20.722" v="472" actId="20577"/>
          <ac:spMkLst>
            <pc:docMk/>
            <pc:sldMk cId="0" sldId="278"/>
            <ac:spMk id="2" creationId="{00000000-0000-0000-0000-000000000000}"/>
          </ac:spMkLst>
        </pc:spChg>
      </pc:sldChg>
      <pc:sldChg chg="modSp add mod setBg">
        <pc:chgData name="Daniela Avayu Zaliasnik" userId="9c27548f-6c4b-4161-bdb9-08ba1fd3ef5b" providerId="ADAL" clId="{42E25D42-D604-47A2-96A3-5D3B4D275292}" dt="2026-09-15T23:54:40.358" v="411" actId="1076"/>
        <pc:sldMkLst>
          <pc:docMk/>
          <pc:sldMk cId="2700478450" sldId="279"/>
        </pc:sldMkLst>
        <pc:spChg chg="mod">
          <ac:chgData name="Daniela Avayu Zaliasnik" userId="9c27548f-6c4b-4161-bdb9-08ba1fd3ef5b" providerId="ADAL" clId="{42E25D42-D604-47A2-96A3-5D3B4D275292}" dt="2026-09-15T23:54:27.964" v="410" actId="1035"/>
          <ac:spMkLst>
            <pc:docMk/>
            <pc:sldMk cId="2700478450" sldId="279"/>
            <ac:spMk id="6" creationId="{00000000-0000-0000-0000-000000000000}"/>
          </ac:spMkLst>
        </pc:spChg>
        <pc:spChg chg="mod">
          <ac:chgData name="Daniela Avayu Zaliasnik" userId="9c27548f-6c4b-4161-bdb9-08ba1fd3ef5b" providerId="ADAL" clId="{42E25D42-D604-47A2-96A3-5D3B4D275292}" dt="2026-09-15T23:54:27.964" v="410" actId="1035"/>
          <ac:spMkLst>
            <pc:docMk/>
            <pc:sldMk cId="2700478450" sldId="279"/>
            <ac:spMk id="7" creationId="{00000000-0000-0000-0000-000000000000}"/>
          </ac:spMkLst>
        </pc:spChg>
        <pc:spChg chg="mod">
          <ac:chgData name="Daniela Avayu Zaliasnik" userId="9c27548f-6c4b-4161-bdb9-08ba1fd3ef5b" providerId="ADAL" clId="{42E25D42-D604-47A2-96A3-5D3B4D275292}" dt="2026-09-15T23:54:40.358" v="411" actId="1076"/>
          <ac:spMkLst>
            <pc:docMk/>
            <pc:sldMk cId="2700478450" sldId="279"/>
            <ac:spMk id="8" creationId="{00000000-0000-0000-0000-000000000000}"/>
          </ac:spMkLst>
        </pc:spChg>
      </pc:sldChg>
      <pc:sldChg chg="delSp add mod setBg">
        <pc:chgData name="Daniela Avayu Zaliasnik" userId="9c27548f-6c4b-4161-bdb9-08ba1fd3ef5b" providerId="ADAL" clId="{42E25D42-D604-47A2-96A3-5D3B4D275292}" dt="2026-09-15T23:54:51.470" v="412" actId="478"/>
        <pc:sldMkLst>
          <pc:docMk/>
          <pc:sldMk cId="0" sldId="280"/>
        </pc:sldMkLst>
      </pc:sldChg>
      <pc:sldChg chg="delSp modSp add mod setBg">
        <pc:chgData name="Daniela Avayu Zaliasnik" userId="9c27548f-6c4b-4161-bdb9-08ba1fd3ef5b" providerId="ADAL" clId="{42E25D42-D604-47A2-96A3-5D3B4D275292}" dt="2026-09-15T23:55:17.790" v="415" actId="478"/>
        <pc:sldMkLst>
          <pc:docMk/>
          <pc:sldMk cId="0" sldId="281"/>
        </pc:sldMkLst>
        <pc:spChg chg="mod">
          <ac:chgData name="Daniela Avayu Zaliasnik" userId="9c27548f-6c4b-4161-bdb9-08ba1fd3ef5b" providerId="ADAL" clId="{42E25D42-D604-47A2-96A3-5D3B4D275292}" dt="2026-09-15T23:55:09.887" v="413" actId="33524"/>
          <ac:spMkLst>
            <pc:docMk/>
            <pc:sldMk cId="0" sldId="281"/>
            <ac:spMk id="11" creationId="{00000000-0000-0000-0000-000000000000}"/>
          </ac:spMkLst>
        </pc:spChg>
      </pc:sldChg>
      <pc:sldChg chg="delSp add mod setBg">
        <pc:chgData name="Daniela Avayu Zaliasnik" userId="9c27548f-6c4b-4161-bdb9-08ba1fd3ef5b" providerId="ADAL" clId="{42E25D42-D604-47A2-96A3-5D3B4D275292}" dt="2026-09-15T23:56:13.442" v="416" actId="478"/>
        <pc:sldMkLst>
          <pc:docMk/>
          <pc:sldMk cId="0" sldId="282"/>
        </pc:sldMkLst>
      </pc:sldChg>
      <pc:sldChg chg="add setBg">
        <pc:chgData name="Daniela Avayu Zaliasnik" userId="9c27548f-6c4b-4161-bdb9-08ba1fd3ef5b" providerId="ADAL" clId="{42E25D42-D604-47A2-96A3-5D3B4D275292}" dt="2026-09-15T23:40:07.599" v="378"/>
        <pc:sldMkLst>
          <pc:docMk/>
          <pc:sldMk cId="571845707" sldId="283"/>
        </pc:sldMkLst>
      </pc:sldChg>
      <pc:sldChg chg="add setBg">
        <pc:chgData name="Daniela Avayu Zaliasnik" userId="9c27548f-6c4b-4161-bdb9-08ba1fd3ef5b" providerId="ADAL" clId="{42E25D42-D604-47A2-96A3-5D3B4D275292}" dt="2026-09-15T23:40:07.599" v="378"/>
        <pc:sldMkLst>
          <pc:docMk/>
          <pc:sldMk cId="0" sldId="284"/>
        </pc:sldMkLst>
      </pc:sldChg>
      <pc:sldChg chg="delSp modSp add del mod setBg modNotesTx">
        <pc:chgData name="Daniela Avayu Zaliasnik" userId="9c27548f-6c4b-4161-bdb9-08ba1fd3ef5b" providerId="ADAL" clId="{42E25D42-D604-47A2-96A3-5D3B4D275292}" dt="2026-09-16T00:43:07.978" v="531" actId="47"/>
        <pc:sldMkLst>
          <pc:docMk/>
          <pc:sldMk cId="0" sldId="285"/>
        </pc:sldMkLst>
        <pc:spChg chg="mod">
          <ac:chgData name="Daniela Avayu Zaliasnik" userId="9c27548f-6c4b-4161-bdb9-08ba1fd3ef5b" providerId="ADAL" clId="{42E25D42-D604-47A2-96A3-5D3B4D275292}" dt="2026-09-16T00:32:01.865" v="424" actId="255"/>
          <ac:spMkLst>
            <pc:docMk/>
            <pc:sldMk cId="0" sldId="285"/>
            <ac:spMk id="4" creationId="{00000000-0000-0000-0000-000000000000}"/>
          </ac:spMkLst>
        </pc:spChg>
        <pc:spChg chg="del">
          <ac:chgData name="Daniela Avayu Zaliasnik" userId="9c27548f-6c4b-4161-bdb9-08ba1fd3ef5b" providerId="ADAL" clId="{42E25D42-D604-47A2-96A3-5D3B4D275292}" dt="2026-09-16T00:35:01.101" v="473" actId="478"/>
          <ac:spMkLst>
            <pc:docMk/>
            <pc:sldMk cId="0" sldId="285"/>
            <ac:spMk id="7" creationId="{00000000-0000-0000-0000-000000000000}"/>
          </ac:spMkLst>
        </pc:spChg>
        <pc:graphicFrameChg chg="modGraphic">
          <ac:chgData name="Daniela Avayu Zaliasnik" userId="9c27548f-6c4b-4161-bdb9-08ba1fd3ef5b" providerId="ADAL" clId="{42E25D42-D604-47A2-96A3-5D3B4D275292}" dt="2026-09-16T00:32:26.901" v="431" actId="255"/>
          <ac:graphicFrameMkLst>
            <pc:docMk/>
            <pc:sldMk cId="0" sldId="285"/>
            <ac:graphicFrameMk id="9" creationId="{00000000-0000-0000-0000-000000000000}"/>
          </ac:graphicFrameMkLst>
        </pc:graphicFrameChg>
      </pc:sldChg>
      <pc:sldChg chg="delSp modSp add mod">
        <pc:chgData name="Daniela Avayu Zaliasnik" userId="9c27548f-6c4b-4161-bdb9-08ba1fd3ef5b" providerId="ADAL" clId="{42E25D42-D604-47A2-96A3-5D3B4D275292}" dt="2026-09-16T00:51:38.648" v="710" actId="20577"/>
        <pc:sldMkLst>
          <pc:docMk/>
          <pc:sldMk cId="858384537" sldId="286"/>
        </pc:sldMkLst>
        <pc:spChg chg="mod">
          <ac:chgData name="Daniela Avayu Zaliasnik" userId="9c27548f-6c4b-4161-bdb9-08ba1fd3ef5b" providerId="ADAL" clId="{42E25D42-D604-47A2-96A3-5D3B4D275292}" dt="2026-09-16T00:51:38.648" v="710" actId="20577"/>
          <ac:spMkLst>
            <pc:docMk/>
            <pc:sldMk cId="858384537" sldId="286"/>
            <ac:spMk id="2" creationId="{A611B5C5-EF14-DA22-4AEC-6AFD1BFEA7F9}"/>
          </ac:spMkLst>
        </pc:spChg>
        <pc:spChg chg="del">
          <ac:chgData name="Daniela Avayu Zaliasnik" userId="9c27548f-6c4b-4161-bdb9-08ba1fd3ef5b" providerId="ADAL" clId="{42E25D42-D604-47A2-96A3-5D3B4D275292}" dt="2026-09-16T00:40:14.112" v="475" actId="478"/>
          <ac:spMkLst>
            <pc:docMk/>
            <pc:sldMk cId="858384537" sldId="286"/>
            <ac:spMk id="4" creationId="{D4A597FB-2425-7AE6-3D1D-44325851D03B}"/>
          </ac:spMkLst>
        </pc:spChg>
        <pc:graphicFrameChg chg="mod modGraphic">
          <ac:chgData name="Daniela Avayu Zaliasnik" userId="9c27548f-6c4b-4161-bdb9-08ba1fd3ef5b" providerId="ADAL" clId="{42E25D42-D604-47A2-96A3-5D3B4D275292}" dt="2026-09-16T00:40:33.939" v="481" actId="1076"/>
          <ac:graphicFrameMkLst>
            <pc:docMk/>
            <pc:sldMk cId="858384537" sldId="286"/>
            <ac:graphicFrameMk id="9" creationId="{E3144B2E-5C31-7E6A-9FF7-9692C831FA2F}"/>
          </ac:graphicFrameMkLst>
        </pc:graphicFrameChg>
      </pc:sldChg>
      <pc:sldChg chg="add del">
        <pc:chgData name="Daniela Avayu Zaliasnik" userId="9c27548f-6c4b-4161-bdb9-08ba1fd3ef5b" providerId="ADAL" clId="{42E25D42-D604-47A2-96A3-5D3B4D275292}" dt="2026-09-16T01:00:34.026" v="745" actId="47"/>
        <pc:sldMkLst>
          <pc:docMk/>
          <pc:sldMk cId="1542830668" sldId="287"/>
        </pc:sldMkLst>
      </pc:sldChg>
      <pc:sldMasterChg chg="addSp mod">
        <pc:chgData name="Daniela Avayu Zaliasnik" userId="9c27548f-6c4b-4161-bdb9-08ba1fd3ef5b" providerId="ADAL" clId="{42E25D42-D604-47A2-96A3-5D3B4D275292}" dt="2026-09-12T22:52:02.436" v="3" actId="33475"/>
        <pc:sldMasterMkLst>
          <pc:docMk/>
          <pc:sldMasterMk cId="2209977519" sldId="2147483648"/>
        </pc:sldMasterMkLst>
        <pc:spChg chg="add">
          <ac:chgData name="Daniela Avayu Zaliasnik" userId="9c27548f-6c4b-4161-bdb9-08ba1fd3ef5b" providerId="ADAL" clId="{42E25D42-D604-47A2-96A3-5D3B4D275292}" dt="2026-09-12T22:52:02.436" v="3" actId="33475"/>
          <ac:spMkLst>
            <pc:docMk/>
            <pc:sldMasterMk cId="2209977519" sldId="2147483648"/>
            <ac:spMk id="8" creationId="{605E192F-930A-2471-D027-9903229B9A51}"/>
          </ac:spMkLst>
        </pc:spChg>
      </pc:sldMasterChg>
    </pc:docChg>
  </pc:docChgLst>
  <pc:docChgLst>
    <pc:chgData name="Nishant Yonzan" userId="S::nyonzan@worldbank.org::3bdbdd72-ed93-479d-9dd5-433cc0b4cc1c" providerId="AD" clId="Web-{F4794A9E-AE86-17A5-2614-34C1D97EB093}"/>
    <pc:docChg chg="mod">
      <pc:chgData name="Nishant Yonzan" userId="S::nyonzan@worldbank.org::3bdbdd72-ed93-479d-9dd5-433cc0b4cc1c" providerId="AD" clId="Web-{F4794A9E-AE86-17A5-2614-34C1D97EB093}" dt="2026-09-15T14:01:32.403" v="0"/>
      <pc:docMkLst>
        <pc:docMk/>
      </pc:docMkLst>
    </pc:docChg>
  </pc:docChgLst>
  <pc:docChgLst>
    <pc:chgData clId="Web-{E045D225-47A8-347D-734E-2D1C7471F26E}"/>
    <pc:docChg chg="modSld">
      <pc:chgData name="" userId="" providerId="" clId="Web-{E045D225-47A8-347D-734E-2D1C7471F26E}" dt="2026-09-16T00:53:49.485" v="339" actId="1076"/>
      <pc:docMkLst>
        <pc:docMk/>
      </pc:docMkLst>
      <pc:sldChg chg="modSp">
        <pc:chgData name="" userId="" providerId="" clId="Web-{E045D225-47A8-347D-734E-2D1C7471F26E}" dt="2026-09-16T00:53:49.485" v="339" actId="1076"/>
        <pc:sldMkLst>
          <pc:docMk/>
          <pc:sldMk cId="0" sldId="277"/>
        </pc:sldMkLst>
        <pc:spChg chg="mod">
          <ac:chgData name="" userId="" providerId="" clId="Web-{E045D225-47A8-347D-734E-2D1C7471F26E}" dt="2026-09-16T00:53:49.485" v="339" actId="1076"/>
          <ac:spMkLst>
            <pc:docMk/>
            <pc:sldMk cId="0" sldId="277"/>
            <ac:spMk id="17" creationId="{EFC968AA-431E-B00C-330B-0B94EACA94BC}"/>
          </ac:spMkLst>
        </pc:spChg>
        <pc:graphicFrameChg chg="mod modGraphic">
          <ac:chgData name="" userId="" providerId="" clId="Web-{E045D225-47A8-347D-734E-2D1C7471F26E}" dt="2026-09-16T00:49:57.992" v="312"/>
          <ac:graphicFrameMkLst>
            <pc:docMk/>
            <pc:sldMk cId="0" sldId="277"/>
            <ac:graphicFrameMk id="12" creationId="{00000000-0000-0000-0000-000000000000}"/>
          </ac:graphicFrameMkLst>
        </pc:graphicFrameChg>
      </pc:sldChg>
      <pc:sldChg chg="modSp">
        <pc:chgData name="" userId="" providerId="" clId="Web-{E045D225-47A8-347D-734E-2D1C7471F26E}" dt="2026-09-16T00:41:17.645" v="153"/>
        <pc:sldMkLst>
          <pc:docMk/>
          <pc:sldMk cId="0" sldId="285"/>
        </pc:sldMkLst>
        <pc:graphicFrameChg chg="mod modGraphic">
          <ac:chgData name="" userId="" providerId="" clId="Web-{E045D225-47A8-347D-734E-2D1C7471F26E}" dt="2026-09-16T00:41:17.645" v="153"/>
          <ac:graphicFrameMkLst>
            <pc:docMk/>
            <pc:sldMk cId="0" sldId="285"/>
            <ac:graphicFrameMk id="9" creationId="{00000000-0000-0000-0000-000000000000}"/>
          </ac:graphicFrameMkLst>
        </pc:graphicFrameChg>
      </pc:sldChg>
      <pc:sldChg chg="modSp">
        <pc:chgData name="" userId="" providerId="" clId="Web-{E045D225-47A8-347D-734E-2D1C7471F26E}" dt="2026-09-16T00:49:41.554" v="285"/>
        <pc:sldMkLst>
          <pc:docMk/>
          <pc:sldMk cId="858384537" sldId="286"/>
        </pc:sldMkLst>
        <pc:graphicFrameChg chg="mod modGraphic">
          <ac:chgData name="" userId="" providerId="" clId="Web-{E045D225-47A8-347D-734E-2D1C7471F26E}" dt="2026-09-16T00:49:41.554" v="285"/>
          <ac:graphicFrameMkLst>
            <pc:docMk/>
            <pc:sldMk cId="858384537" sldId="286"/>
            <ac:graphicFrameMk id="9" creationId="{E3144B2E-5C31-7E6A-9FF7-9692C831FA2F}"/>
          </ac:graphicFrameMkLst>
        </pc:graphicFrameChg>
      </pc:sldChg>
      <pc:sldChg chg="modSp">
        <pc:chgData name="" userId="" providerId="" clId="Web-{E045D225-47A8-347D-734E-2D1C7471F26E}" dt="2026-09-16T00:50:06.070" v="338"/>
        <pc:sldMkLst>
          <pc:docMk/>
          <pc:sldMk cId="1542830668" sldId="287"/>
        </pc:sldMkLst>
        <pc:graphicFrameChg chg="mod modGraphic">
          <ac:chgData name="" userId="" providerId="" clId="Web-{E045D225-47A8-347D-734E-2D1C7471F26E}" dt="2026-09-16T00:50:06.070" v="338"/>
          <ac:graphicFrameMkLst>
            <pc:docMk/>
            <pc:sldMk cId="1542830668" sldId="287"/>
            <ac:graphicFrameMk id="12" creationId="{F95F8F76-4C24-D009-96EB-D2641774233E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456F931-AAAA-4775-923E-7BCB050C8A62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74F88CB-BF38-4B85-99AA-930FF8129A9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14593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A9088D-CF27-95A3-A71A-E6A43FDF1B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BF7A99A-158B-380E-FD12-1B19F51E6B3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1875A63-54E6-CD97-2964-FF2808C24D5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965024-BD7A-4278-AE54-4F26876959D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75202104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LIS ceiling: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59 observations capped, above </a:t>
            </a:r>
            <a:r>
              <a:rPr lang="en-US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48.57 PPP/day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lvl="0"/>
            <a:r>
              <a:rPr lang="en-US" sz="1200" b="1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Outdetect</a:t>
            </a:r>
            <a:r>
              <a:rPr lang="en-US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threshold: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206 observations capped, above </a:t>
            </a:r>
            <a:r>
              <a:rPr lang="en-US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20.22 PPP/day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4F88CB-BF38-4B85-99AA-930FF8129A9F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57175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05E192F-930A-2471-D027-9903229B9A51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11210925" y="6642100"/>
            <a:ext cx="942975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Official Use Only</a:t>
            </a:r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30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1051560"/>
            <a:ext cx="10789920" cy="9144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3500" b="1">
                <a:solidFill>
                  <a:srgbClr val="FFFFFF"/>
                </a:solidFill>
                <a:latin typeface="Aptos Display"/>
              </a:rPr>
              <a:t>Top-censoring in survey welfare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94944" y="2057400"/>
            <a:ext cx="9875520" cy="4572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2000" b="0">
                <a:solidFill>
                  <a:srgbClr val="CDDEE7"/>
                </a:solidFill>
                <a:latin typeface="Aptos Display"/>
              </a:rPr>
              <a:t>Evidence from global screening and a Malawi 1997 deep dive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2880360"/>
            <a:ext cx="9966960" cy="4114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300" b="0">
                <a:solidFill>
                  <a:srgbClr val="CDDEE7"/>
                </a:solidFill>
                <a:latin typeface="Aptos"/>
              </a:rPr>
              <a:t>Literature review | LIS and outdetect screening | Pareto, GB2 and regression diagnostics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3767328"/>
            <a:ext cx="2011680" cy="91440"/>
          </a:xfrm>
          <a:prstGeom prst="rect">
            <a:avLst/>
          </a:prstGeom>
          <a:solidFill>
            <a:srgbClr val="2F81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92912" y="5257800"/>
            <a:ext cx="3210560" cy="406265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r>
              <a:rPr lang="en-US" sz="1200" b="0">
                <a:solidFill>
                  <a:srgbClr val="CDDEE7"/>
                </a:solidFill>
                <a:latin typeface="Aptos"/>
              </a:rPr>
              <a:t>Daniela</a:t>
            </a:r>
            <a:r>
              <a:rPr lang="en-US" sz="1200">
                <a:solidFill>
                  <a:srgbClr val="CDDEE7"/>
                </a:solidFill>
                <a:latin typeface="Aptos"/>
              </a:rPr>
              <a:t> Avayu</a:t>
            </a:r>
            <a:r>
              <a:rPr lang="en-US" sz="1200" b="0">
                <a:solidFill>
                  <a:srgbClr val="CDDEE7"/>
                </a:solidFill>
                <a:latin typeface="Aptos"/>
              </a:rPr>
              <a:t>, Yuki</a:t>
            </a:r>
            <a:r>
              <a:rPr lang="en-US" sz="1200">
                <a:solidFill>
                  <a:srgbClr val="CDDEE7"/>
                </a:solidFill>
                <a:latin typeface="Aptos"/>
              </a:rPr>
              <a:t> Kimura</a:t>
            </a:r>
            <a:r>
              <a:rPr lang="en-US" sz="1200" b="0">
                <a:solidFill>
                  <a:srgbClr val="CDDEE7"/>
                </a:solidFill>
                <a:latin typeface="Aptos"/>
              </a:rPr>
              <a:t>, Nishant</a:t>
            </a:r>
            <a:r>
              <a:rPr lang="en-US" sz="1200">
                <a:solidFill>
                  <a:srgbClr val="CDDEE7"/>
                </a:solidFill>
                <a:latin typeface="Aptos"/>
              </a:rPr>
              <a:t> Yonzan</a:t>
            </a:r>
            <a:endParaRPr lang="en-US" sz="1200" b="0">
              <a:solidFill>
                <a:srgbClr val="CDDEE7"/>
              </a:solidFill>
              <a:latin typeface="Aptos"/>
            </a:endParaRPr>
          </a:p>
          <a:p>
            <a:pPr algn="l"/>
            <a:r>
              <a:rPr sz="1200" b="0">
                <a:solidFill>
                  <a:srgbClr val="CDDEE7"/>
                </a:solidFill>
                <a:latin typeface="Aptos"/>
              </a:rPr>
              <a:t>September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0698480" cy="42165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2600" b="1">
                <a:solidFill>
                  <a:srgbClr val="1E3043"/>
                </a:solidFill>
                <a:latin typeface="Aptos Display"/>
              </a:rPr>
              <a:t>Why examine the upper tail?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32104"/>
            <a:ext cx="1005840" cy="54864"/>
          </a:xfrm>
          <a:prstGeom prst="rect">
            <a:avLst/>
          </a:prstGeom>
          <a:solidFill>
            <a:srgbClr val="2F81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932688"/>
            <a:ext cx="10881360" cy="252377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500" b="0">
                <a:solidFill>
                  <a:srgbClr val="646767"/>
                </a:solidFill>
                <a:latin typeface="Aptos"/>
              </a:rPr>
              <a:t>Different institutions answer different questions about extreme values.</a:t>
            </a:r>
            <a:endParaRPr lang="es-ES" sz="1400" b="0">
              <a:solidFill>
                <a:srgbClr val="646767"/>
              </a:solidFill>
              <a:latin typeface="Apto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475720" y="347472"/>
            <a:ext cx="502920" cy="3200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/>
            <a:r>
              <a:rPr sz="1200" b="1">
                <a:solidFill>
                  <a:srgbClr val="2F8177"/>
                </a:solidFill>
                <a:latin typeface="Aptos"/>
              </a:rPr>
              <a:t>01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00200"/>
            <a:ext cx="2240280" cy="1965960"/>
          </a:xfrm>
          <a:prstGeom prst="roundRect">
            <a:avLst/>
          </a:prstGeom>
          <a:solidFill>
            <a:srgbClr val="F2EFE8"/>
          </a:solidFill>
          <a:ln>
            <a:solidFill>
              <a:srgbClr val="D8D1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1600200"/>
            <a:ext cx="73152" cy="1965960"/>
          </a:xfrm>
          <a:prstGeom prst="rect">
            <a:avLst/>
          </a:prstGeom>
          <a:solidFill>
            <a:srgbClr val="2C69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41247" y="1755648"/>
            <a:ext cx="1947672" cy="228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300" b="1">
                <a:solidFill>
                  <a:srgbClr val="646767"/>
                </a:solidFill>
                <a:latin typeface="Aptos"/>
              </a:rPr>
              <a:t>LIS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2039112"/>
            <a:ext cx="1947672" cy="8686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600" b="1">
                <a:solidFill>
                  <a:srgbClr val="1E3043"/>
                </a:solidFill>
                <a:latin typeface="Aptos"/>
              </a:rPr>
              <a:t>Robustness treatment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2543301"/>
            <a:ext cx="1947672" cy="603503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300" b="0">
                <a:solidFill>
                  <a:srgbClr val="2F353A"/>
                </a:solidFill>
                <a:latin typeface="Aptos"/>
              </a:rPr>
              <a:t>Log-IQR cap; retains records and weights. Values above it are candidates for review, not proven errors.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20440" y="1600200"/>
            <a:ext cx="2240280" cy="1965960"/>
          </a:xfrm>
          <a:prstGeom prst="roundRect">
            <a:avLst/>
          </a:prstGeom>
          <a:solidFill>
            <a:srgbClr val="F2EFE8"/>
          </a:solidFill>
          <a:ln>
            <a:solidFill>
              <a:srgbClr val="D8D1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520440" y="1600200"/>
            <a:ext cx="73152" cy="1965960"/>
          </a:xfrm>
          <a:prstGeom prst="rect">
            <a:avLst/>
          </a:prstGeom>
          <a:solidFill>
            <a:srgbClr val="CF6F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721608" y="1755648"/>
            <a:ext cx="1947672" cy="228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300" b="1">
                <a:solidFill>
                  <a:srgbClr val="646767"/>
                </a:solidFill>
                <a:latin typeface="Aptos"/>
              </a:rPr>
              <a:t>CPS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21608" y="2039112"/>
            <a:ext cx="1947672" cy="8686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600" b="1">
                <a:solidFill>
                  <a:srgbClr val="1E3043"/>
                </a:solidFill>
                <a:latin typeface="Aptos"/>
              </a:rPr>
              <a:t>Confidentiality treatment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21608" y="2553933"/>
            <a:ext cx="1947672" cy="603503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300" b="0">
                <a:solidFill>
                  <a:srgbClr val="2F353A"/>
                </a:solidFill>
                <a:latin typeface="Aptos"/>
              </a:rPr>
              <a:t>Top-coding, replacement and rank swapping protect respondents; public values may not be reported incomes.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1600200"/>
            <a:ext cx="2240280" cy="1965960"/>
          </a:xfrm>
          <a:prstGeom prst="roundRect">
            <a:avLst/>
          </a:prstGeom>
          <a:solidFill>
            <a:srgbClr val="F2EFE8"/>
          </a:solidFill>
          <a:ln>
            <a:solidFill>
              <a:srgbClr val="D8D1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400800" y="1600200"/>
            <a:ext cx="73152" cy="1965960"/>
          </a:xfrm>
          <a:prstGeom prst="rect">
            <a:avLst/>
          </a:prstGeom>
          <a:solidFill>
            <a:srgbClr val="2F81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601968" y="1755648"/>
            <a:ext cx="1947672" cy="23698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r>
              <a:rPr lang="en-US" sz="1300" b="1">
                <a:solidFill>
                  <a:srgbClr val="646767"/>
                </a:solidFill>
                <a:latin typeface="Aptos"/>
              </a:rPr>
              <a:t>Van Kerm (EU-SILC data) </a:t>
            </a:r>
            <a:endParaRPr sz="1100" b="1">
              <a:solidFill>
                <a:srgbClr val="646767"/>
              </a:solidFill>
              <a:latin typeface="Apto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601968" y="2039112"/>
            <a:ext cx="1947672" cy="8686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600" b="1">
                <a:solidFill>
                  <a:srgbClr val="1E3043"/>
                </a:solidFill>
                <a:latin typeface="Aptos"/>
              </a:rPr>
              <a:t>Sensitivity toolkit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1968" y="2543301"/>
            <a:ext cx="1947672" cy="34471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300" b="0">
                <a:solidFill>
                  <a:srgbClr val="2F353A"/>
                </a:solidFill>
                <a:latin typeface="Aptos"/>
              </a:rPr>
              <a:t>Trimming deletes, </a:t>
            </a:r>
            <a:r>
              <a:rPr sz="1300" b="0" err="1">
                <a:solidFill>
                  <a:srgbClr val="2F353A"/>
                </a:solidFill>
                <a:latin typeface="Aptos"/>
              </a:rPr>
              <a:t>winsorizing</a:t>
            </a:r>
            <a:r>
              <a:rPr sz="1300" b="0">
                <a:solidFill>
                  <a:srgbClr val="2F353A"/>
                </a:solidFill>
                <a:latin typeface="Aptos"/>
              </a:rPr>
              <a:t> caps, and Pareto models the tail. 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281160" y="1600200"/>
            <a:ext cx="2240280" cy="1965960"/>
          </a:xfrm>
          <a:prstGeom prst="roundRect">
            <a:avLst/>
          </a:prstGeom>
          <a:solidFill>
            <a:srgbClr val="F2EFE8"/>
          </a:solidFill>
          <a:ln>
            <a:solidFill>
              <a:srgbClr val="D8D1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9281160" y="1600200"/>
            <a:ext cx="73152" cy="1965960"/>
          </a:xfrm>
          <a:prstGeom prst="rect">
            <a:avLst/>
          </a:prstGeom>
          <a:solidFill>
            <a:srgbClr val="AD4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482328" y="1755648"/>
            <a:ext cx="1947672" cy="228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300" b="1">
                <a:solidFill>
                  <a:srgbClr val="646767"/>
                </a:solidFill>
                <a:latin typeface="Aptos"/>
              </a:rPr>
              <a:t>WID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82328" y="2039112"/>
            <a:ext cx="1947672" cy="8686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600" b="1">
                <a:solidFill>
                  <a:srgbClr val="1E3043"/>
                </a:solidFill>
                <a:latin typeface="Aptos"/>
              </a:rPr>
              <a:t>Coverage problem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82328" y="2559249"/>
            <a:ext cx="1947672" cy="603503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300" b="0">
                <a:solidFill>
                  <a:srgbClr val="2F353A"/>
                </a:solidFill>
                <a:latin typeface="Aptos"/>
              </a:rPr>
              <a:t>Combines survey, tax and administrative data to address underrepresentation of the richest households.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4069080"/>
            <a:ext cx="10241280" cy="65836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2100" b="1">
                <a:solidFill>
                  <a:srgbClr val="1E3043"/>
                </a:solidFill>
                <a:latin typeface="Aptos Display"/>
              </a:rPr>
              <a:t>The literature separates two problems: limiting the influence of observed extreme values, and correcting for the possible underrepresentation of the richest households.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4983480"/>
            <a:ext cx="10241280" cy="56692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800" b="0">
                <a:solidFill>
                  <a:srgbClr val="2F353A"/>
                </a:solidFill>
                <a:latin typeface="Aptos"/>
              </a:rPr>
              <a:t>This project focuses on the first: do a few observed welfare values have enough influence to warrant a transparent sensitivity treatment?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6510528"/>
            <a:ext cx="6400800" cy="16459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900" b="0">
                <a:solidFill>
                  <a:srgbClr val="646767"/>
                </a:solidFill>
                <a:latin typeface="Aptos"/>
              </a:rPr>
              <a:t>Top-censoring analysis | Malawi 1997 deep dive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0698480" cy="42165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2600" b="1">
                <a:solidFill>
                  <a:srgbClr val="1E3043"/>
                </a:solidFill>
                <a:latin typeface="Aptos Display"/>
              </a:rPr>
              <a:t>Literature lens and study design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32104"/>
            <a:ext cx="1005840" cy="54864"/>
          </a:xfrm>
          <a:prstGeom prst="rect">
            <a:avLst/>
          </a:prstGeom>
          <a:solidFill>
            <a:srgbClr val="2F81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932688"/>
            <a:ext cx="10881360" cy="252377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500" b="0">
                <a:solidFill>
                  <a:srgbClr val="646767"/>
                </a:solidFill>
                <a:latin typeface="Aptos"/>
              </a:rPr>
              <a:t>The literature treats extreme values differently depending on the analytical objective.</a:t>
            </a:r>
            <a:endParaRPr lang="es-ES" sz="1400" b="0">
              <a:solidFill>
                <a:srgbClr val="646767"/>
              </a:solidFill>
              <a:latin typeface="Apto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475720" y="347472"/>
            <a:ext cx="502920" cy="3200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/>
            <a:r>
              <a:rPr sz="1200" b="1">
                <a:solidFill>
                  <a:srgbClr val="2F8177"/>
                </a:solidFill>
                <a:latin typeface="Aptos"/>
              </a:rPr>
              <a:t>02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3246120" cy="1920240"/>
          </a:xfrm>
          <a:prstGeom prst="roundRect">
            <a:avLst/>
          </a:prstGeom>
          <a:solidFill>
            <a:srgbClr val="F2EFE8"/>
          </a:solidFill>
          <a:ln>
            <a:solidFill>
              <a:srgbClr val="D8D1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417320"/>
            <a:ext cx="73152" cy="1920240"/>
          </a:xfrm>
          <a:prstGeom prst="rect">
            <a:avLst/>
          </a:prstGeom>
          <a:solidFill>
            <a:srgbClr val="2C69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32688" y="1572768"/>
            <a:ext cx="2953512" cy="228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300" b="1">
                <a:solidFill>
                  <a:srgbClr val="646767"/>
                </a:solidFill>
                <a:latin typeface="Aptos"/>
              </a:rPr>
              <a:t>GLOBAL SCREENING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1856232"/>
            <a:ext cx="2953512" cy="43891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2700" b="1">
                <a:solidFill>
                  <a:srgbClr val="1E3043"/>
                </a:solidFill>
                <a:latin typeface="Aptos Display"/>
              </a:rPr>
              <a:t>1,825 surveys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50008"/>
            <a:ext cx="2953512" cy="98755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300" b="0">
                <a:solidFill>
                  <a:srgbClr val="2F353A"/>
                </a:solidFill>
                <a:latin typeface="Aptos"/>
              </a:rPr>
              <a:t>GMD provides welfare and weights for the LIS and outdetect comparison.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1417320"/>
            <a:ext cx="3246120" cy="1920240"/>
          </a:xfrm>
          <a:prstGeom prst="roundRect">
            <a:avLst/>
          </a:prstGeom>
          <a:solidFill>
            <a:srgbClr val="F2EFE8"/>
          </a:solidFill>
          <a:ln>
            <a:solidFill>
              <a:srgbClr val="D8D1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480560" y="1417320"/>
            <a:ext cx="73152" cy="1920240"/>
          </a:xfrm>
          <a:prstGeom prst="rect">
            <a:avLst/>
          </a:prstGeom>
          <a:solidFill>
            <a:srgbClr val="2F81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681728" y="1572768"/>
            <a:ext cx="2953512" cy="228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300" b="1">
                <a:solidFill>
                  <a:srgbClr val="646767"/>
                </a:solidFill>
                <a:latin typeface="Aptos"/>
              </a:rPr>
              <a:t>MALAWI DEEP DIVE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81728" y="1856232"/>
            <a:ext cx="2953512" cy="43891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2700" b="1">
                <a:solidFill>
                  <a:srgbClr val="1E3043"/>
                </a:solidFill>
                <a:latin typeface="Aptos Display"/>
              </a:rPr>
              <a:t>10,698 records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81728" y="2350008"/>
            <a:ext cx="2953512" cy="98755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300" b="0">
                <a:solidFill>
                  <a:srgbClr val="2F353A"/>
                </a:solidFill>
                <a:latin typeface="Aptos"/>
              </a:rPr>
              <a:t>Country microdata add household characteristics for the Pareto, GB2 and regression diagnostics.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0" y="1417320"/>
            <a:ext cx="3246120" cy="1920240"/>
          </a:xfrm>
          <a:prstGeom prst="roundRect">
            <a:avLst/>
          </a:prstGeom>
          <a:solidFill>
            <a:srgbClr val="F2EFE8"/>
          </a:solidFill>
          <a:ln>
            <a:solidFill>
              <a:srgbClr val="D8D1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229600" y="1417320"/>
            <a:ext cx="73152" cy="1920240"/>
          </a:xfrm>
          <a:prstGeom prst="rect">
            <a:avLst/>
          </a:prstGeom>
          <a:solidFill>
            <a:srgbClr val="CF6F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430768" y="1572768"/>
            <a:ext cx="2953512" cy="228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300" b="1">
                <a:solidFill>
                  <a:srgbClr val="646767"/>
                </a:solidFill>
                <a:latin typeface="Aptos"/>
              </a:rPr>
              <a:t>KEY DISTINCTION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30768" y="1856232"/>
            <a:ext cx="2953512" cy="56692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900" b="1">
                <a:solidFill>
                  <a:srgbClr val="1E3043"/>
                </a:solidFill>
                <a:latin typeface="Aptos"/>
              </a:rPr>
              <a:t>Not one rule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30768" y="2382488"/>
            <a:ext cx="2953512" cy="85953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300" b="0">
                <a:solidFill>
                  <a:srgbClr val="2F353A"/>
                </a:solidFill>
                <a:latin typeface="Aptos"/>
              </a:rPr>
              <a:t>An extreme value is a candidate for review, not proof of a data error.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37844" y="4590288"/>
            <a:ext cx="10241280" cy="68326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2100" b="1">
                <a:solidFill>
                  <a:srgbClr val="1E3043"/>
                </a:solidFill>
                <a:latin typeface="Aptos"/>
              </a:rPr>
              <a:t>Our question: how sensitive are the headline indicators to extreme observed values, under transparent deletion and capping rules?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6510528"/>
            <a:ext cx="6400800" cy="16459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900" b="0">
                <a:solidFill>
                  <a:srgbClr val="646767"/>
                </a:solidFill>
                <a:latin typeface="Aptos"/>
              </a:rPr>
              <a:t>Top-censoring analysis | Malawi 1997 deep dive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0698480" cy="38404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600" b="1">
                <a:solidFill>
                  <a:srgbClr val="1E3043"/>
                </a:solidFill>
                <a:latin typeface="Aptos Display"/>
              </a:rPr>
              <a:t>Global screening: two complementary methods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32104"/>
            <a:ext cx="1005840" cy="54864"/>
          </a:xfrm>
          <a:prstGeom prst="rect">
            <a:avLst/>
          </a:prstGeom>
          <a:solidFill>
            <a:srgbClr val="2F81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932688"/>
            <a:ext cx="7958845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500" b="0">
                <a:solidFill>
                  <a:srgbClr val="646767"/>
                </a:solidFill>
                <a:latin typeface="Aptos"/>
              </a:rPr>
              <a:t>Both methods identify unusually high welfare observations; survey-level rules are discussed separately.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347472"/>
            <a:ext cx="50292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200" b="1">
                <a:solidFill>
                  <a:srgbClr val="2F8177"/>
                </a:solidFill>
                <a:latin typeface="Aptos"/>
              </a:rPr>
              <a:t>03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554480"/>
            <a:ext cx="5074920" cy="1874519"/>
          </a:xfrm>
          <a:prstGeom prst="roundRect">
            <a:avLst/>
          </a:prstGeom>
          <a:solidFill>
            <a:srgbClr val="F4F7F6"/>
          </a:solidFill>
          <a:ln>
            <a:solidFill>
              <a:srgbClr val="D9E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1783080"/>
            <a:ext cx="201168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300" b="1">
                <a:solidFill>
                  <a:srgbClr val="2F8177"/>
                </a:solidFill>
                <a:latin typeface="Aptos"/>
              </a:rPr>
              <a:t>METHOD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39112"/>
            <a:ext cx="4389120" cy="34747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000" b="1">
                <a:solidFill>
                  <a:srgbClr val="1E3043"/>
                </a:solidFill>
                <a:latin typeface="Aptos"/>
              </a:rPr>
              <a:t>LIS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542032"/>
            <a:ext cx="4055012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0">
                <a:solidFill>
                  <a:srgbClr val="2F353A"/>
                </a:solidFill>
                <a:latin typeface="Aptos"/>
              </a:rPr>
              <a:t>Log-IQR ceiling identifies upper-tail candidates using a transparent robust rule.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554480"/>
            <a:ext cx="5074920" cy="1874519"/>
          </a:xfrm>
          <a:prstGeom prst="roundRect">
            <a:avLst/>
          </a:prstGeom>
          <a:solidFill>
            <a:srgbClr val="F4F7F6"/>
          </a:solidFill>
          <a:ln>
            <a:solidFill>
              <a:srgbClr val="D9E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0" y="1783080"/>
            <a:ext cx="201168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300" b="1">
                <a:solidFill>
                  <a:srgbClr val="C8873A"/>
                </a:solidFill>
                <a:latin typeface="Aptos"/>
              </a:rPr>
              <a:t>METHOD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039112"/>
            <a:ext cx="4389120" cy="34747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000" b="1">
                <a:solidFill>
                  <a:srgbClr val="1E3043"/>
                </a:solidFill>
                <a:latin typeface="Aptos"/>
              </a:rPr>
              <a:t>OUTDETECT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542032"/>
            <a:ext cx="4087446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0">
                <a:solidFill>
                  <a:srgbClr val="2F353A"/>
                </a:solidFill>
                <a:latin typeface="Aptos"/>
              </a:rPr>
              <a:t>Median plus a robust S-estimator identifies upper-tail candidates in log-welfare space.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977639"/>
            <a:ext cx="9144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300" b="1">
                <a:solidFill>
                  <a:srgbClr val="2F8177"/>
                </a:solidFill>
                <a:latin typeface="Aptos"/>
              </a:rPr>
              <a:t>LIS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3977639"/>
            <a:ext cx="384048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300" b="0">
                <a:solidFill>
                  <a:srgbClr val="2F353A"/>
                </a:solidFill>
                <a:latin typeface="Aptos"/>
              </a:rPr>
              <a:t>exp[ Q0.75(ln y) + 3 x IQR(ln y) 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3977639"/>
            <a:ext cx="132588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300" b="1">
                <a:solidFill>
                  <a:srgbClr val="C8873A"/>
                </a:solidFill>
                <a:latin typeface="Aptos"/>
              </a:rPr>
              <a:t>outdetect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63840" y="3977639"/>
            <a:ext cx="301752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300" b="0">
                <a:solidFill>
                  <a:srgbClr val="2F353A"/>
                </a:solidFill>
                <a:latin typeface="Aptos"/>
              </a:rPr>
              <a:t>exp[ median(ln y) + 3S 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4800600"/>
            <a:ext cx="141732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300" b="1">
                <a:solidFill>
                  <a:srgbClr val="1E3043"/>
                </a:solidFill>
                <a:latin typeface="Aptos"/>
              </a:rPr>
              <a:t>Interpretation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48840" y="4754880"/>
            <a:ext cx="7495345" cy="7386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0">
                <a:solidFill>
                  <a:srgbClr val="2F353A"/>
                </a:solidFill>
                <a:latin typeface="Aptos"/>
              </a:rPr>
              <a:t>Flagged observations are candidates for review, not confirmed errors. The methods answer the same screening question with different robust summaries of the upper tail.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510528"/>
            <a:ext cx="640080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0">
                <a:solidFill>
                  <a:srgbClr val="646767"/>
                </a:solidFill>
                <a:latin typeface="Aptos"/>
              </a:rPr>
              <a:t>Top-censoring analysis | Malawi 1997 deep dive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FE232E-D16C-0B6A-6337-C8554AC18E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611B5C5-EF14-DA22-4AEC-6AFD1BFEA7F9}"/>
              </a:ext>
            </a:extLst>
          </p:cNvPr>
          <p:cNvSpPr txBox="1"/>
          <p:nvPr/>
        </p:nvSpPr>
        <p:spPr>
          <a:xfrm>
            <a:off x="502920" y="320040"/>
            <a:ext cx="5089855" cy="40011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600" b="1">
                <a:solidFill>
                  <a:srgbClr val="1E3043"/>
                </a:solidFill>
                <a:latin typeface="Aptos Display"/>
              </a:rPr>
              <a:t>Top surveys </a:t>
            </a:r>
            <a:r>
              <a:rPr lang="en-US" sz="2600" b="1">
                <a:solidFill>
                  <a:srgbClr val="1E3043"/>
                </a:solidFill>
                <a:latin typeface="Aptos Display"/>
              </a:rPr>
              <a:t>by outlier concentration</a:t>
            </a:r>
            <a:endParaRPr sz="2600" b="1">
              <a:solidFill>
                <a:srgbClr val="1E3043"/>
              </a:solidFill>
              <a:latin typeface="Aptos Display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7FDF900-F6CA-EFED-E3CD-1D6379F60FA3}"/>
              </a:ext>
            </a:extLst>
          </p:cNvPr>
          <p:cNvSpPr/>
          <p:nvPr/>
        </p:nvSpPr>
        <p:spPr>
          <a:xfrm>
            <a:off x="502920" y="832104"/>
            <a:ext cx="1005840" cy="54864"/>
          </a:xfrm>
          <a:prstGeom prst="rect">
            <a:avLst/>
          </a:prstGeom>
          <a:solidFill>
            <a:srgbClr val="2F81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EC0D95D-AB4F-9C20-013F-026E7C79B3AA}"/>
              </a:ext>
            </a:extLst>
          </p:cNvPr>
          <p:cNvSpPr txBox="1"/>
          <p:nvPr/>
        </p:nvSpPr>
        <p:spPr>
          <a:xfrm>
            <a:off x="11475720" y="347472"/>
            <a:ext cx="50292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200" b="1">
                <a:solidFill>
                  <a:srgbClr val="2F8177"/>
                </a:solidFill>
                <a:latin typeface="Aptos"/>
              </a:rPr>
              <a:t>04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0EC9349-CF85-CDAB-79D6-D843B9D932EB}"/>
              </a:ext>
            </a:extLst>
          </p:cNvPr>
          <p:cNvSpPr txBox="1"/>
          <p:nvPr/>
        </p:nvSpPr>
        <p:spPr>
          <a:xfrm>
            <a:off x="502920" y="6510528"/>
            <a:ext cx="640080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0">
                <a:solidFill>
                  <a:srgbClr val="646767"/>
                </a:solidFill>
                <a:latin typeface="Aptos"/>
              </a:rPr>
              <a:t>Top-censoring analysis | Malawi 1997 deep dive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E3144B2E-5C31-7E6A-9FF7-9692C831FA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87324265"/>
              </p:ext>
            </p:extLst>
          </p:nvPr>
        </p:nvGraphicFramePr>
        <p:xfrm>
          <a:off x="1821180" y="1035183"/>
          <a:ext cx="854964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9659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07323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ptos"/>
                        </a:rPr>
                        <a:t>Survey</a:t>
                      </a:r>
                    </a:p>
                  </a:txBody>
                  <a:tcPr marL="36576" marR="36576" marT="18288" marB="18288" anchor="ctr">
                    <a:solidFill>
                      <a:srgbClr val="2F817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ptos"/>
                        </a:rPr>
                        <a:t>LIS welfare</a:t>
                      </a:r>
                    </a:p>
                    <a:p>
                      <a:pPr algn="ctr"/>
                      <a:r>
                        <a:rPr sz="1100"/>
                        <a:t>share</a:t>
                      </a:r>
                    </a:p>
                  </a:txBody>
                  <a:tcPr marL="36576" marR="36576" marT="18288" marB="18288" anchor="ctr">
                    <a:solidFill>
                      <a:srgbClr val="2F817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ptos"/>
                        </a:rPr>
                        <a:t>LIS population</a:t>
                      </a:r>
                    </a:p>
                    <a:p>
                      <a:pPr algn="ctr"/>
                      <a:r>
                        <a:rPr sz="1100"/>
                        <a:t>share</a:t>
                      </a:r>
                    </a:p>
                  </a:txBody>
                  <a:tcPr marL="36576" marR="36576" marT="18288" marB="18288" anchor="ctr">
                    <a:solidFill>
                      <a:srgbClr val="2F817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>
                          <a:solidFill>
                            <a:srgbClr val="FFFFFF"/>
                          </a:solidFill>
                          <a:latin typeface="Aptos"/>
                        </a:rPr>
                        <a:t>Outdetect welfare</a:t>
                      </a:r>
                    </a:p>
                    <a:p>
                      <a:pPr algn="ctr"/>
                      <a:r>
                        <a:rPr lang="en-US" sz="1100"/>
                        <a:t>share</a:t>
                      </a:r>
                    </a:p>
                  </a:txBody>
                  <a:tcPr marL="36576" marR="36576" marT="18288" marB="18288" anchor="ctr">
                    <a:solidFill>
                      <a:srgbClr val="2F817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>
                          <a:solidFill>
                            <a:srgbClr val="FFFFFF"/>
                          </a:solidFill>
                          <a:latin typeface="Aptos"/>
                        </a:rPr>
                        <a:t>Outdetect population</a:t>
                      </a:r>
                    </a:p>
                    <a:p>
                      <a:pPr algn="ctr"/>
                      <a:r>
                        <a:rPr lang="en-US" sz="1100"/>
                        <a:t>share</a:t>
                      </a:r>
                    </a:p>
                  </a:txBody>
                  <a:tcPr marL="36576" marR="36576" marT="18288" marB="18288" anchor="ctr">
                    <a:solidFill>
                      <a:srgbClr val="2F817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7323">
                <a:tc>
                  <a:txBody>
                    <a:bodyPr/>
                    <a:lstStyle/>
                    <a:p>
                      <a:pPr algn="l"/>
                      <a:r>
                        <a:rPr lang="en-US" sz="1200" b="0">
                          <a:solidFill>
                            <a:srgbClr val="2F353A"/>
                          </a:solidFill>
                          <a:latin typeface="Aptos"/>
                        </a:rPr>
                        <a:t>MWI 1997 (IHS-I)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>
                          <a:solidFill>
                            <a:srgbClr val="2F353A"/>
                          </a:solidFill>
                          <a:latin typeface="Aptos"/>
                        </a:rPr>
                        <a:t>41.6%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>
                          <a:solidFill>
                            <a:srgbClr val="2F353A"/>
                          </a:solidFill>
                          <a:latin typeface="Aptos"/>
                        </a:rPr>
                        <a:t>0.4%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>
                          <a:solidFill>
                            <a:srgbClr val="2F353A"/>
                          </a:solidFill>
                          <a:latin typeface="Aptos"/>
                        </a:rPr>
                        <a:t>46.9%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>
                          <a:solidFill>
                            <a:srgbClr val="2F353A"/>
                          </a:solidFill>
                          <a:latin typeface="Aptos"/>
                        </a:rPr>
                        <a:t>1.5%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7323">
                <a:tc>
                  <a:txBody>
                    <a:bodyPr/>
                    <a:lstStyle/>
                    <a:p>
                      <a:pPr algn="l"/>
                      <a:r>
                        <a:rPr lang="en-US" sz="1200" b="0">
                          <a:solidFill>
                            <a:srgbClr val="2F353A"/>
                          </a:solidFill>
                          <a:latin typeface="Aptos"/>
                        </a:rPr>
                        <a:t>BLZ 1993 (LFS)</a:t>
                      </a:r>
                    </a:p>
                  </a:txBody>
                  <a:tcPr marL="36576" marR="36576" marT="18288" marB="18288" anchor="ctr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>
                          <a:solidFill>
                            <a:srgbClr val="2F353A"/>
                          </a:solidFill>
                          <a:latin typeface="Aptos"/>
                        </a:rPr>
                        <a:t>20.1%</a:t>
                      </a:r>
                    </a:p>
                  </a:txBody>
                  <a:tcPr marL="36576" marR="36576" marT="18288" marB="18288" anchor="ctr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>
                          <a:solidFill>
                            <a:srgbClr val="2F353A"/>
                          </a:solidFill>
                          <a:latin typeface="Aptos"/>
                        </a:rPr>
                        <a:t>0.2%</a:t>
                      </a:r>
                    </a:p>
                  </a:txBody>
                  <a:tcPr marL="36576" marR="36576" marT="18288" marB="18288" anchor="ctr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>
                          <a:solidFill>
                            <a:srgbClr val="2F353A"/>
                          </a:solidFill>
                          <a:latin typeface="Aptos"/>
                        </a:rPr>
                        <a:t>21.5%</a:t>
                      </a:r>
                    </a:p>
                  </a:txBody>
                  <a:tcPr marL="36576" marR="36576" marT="18288" marB="18288" anchor="ctr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>
                          <a:solidFill>
                            <a:srgbClr val="2F353A"/>
                          </a:solidFill>
                          <a:latin typeface="Aptos"/>
                        </a:rPr>
                        <a:t>0.3%</a:t>
                      </a:r>
                    </a:p>
                  </a:txBody>
                  <a:tcPr marL="36576" marR="36576" marT="18288" marB="18288" anchor="ctr">
                    <a:solidFill>
                      <a:srgbClr val="F4F7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7323">
                <a:tc>
                  <a:txBody>
                    <a:bodyPr/>
                    <a:lstStyle/>
                    <a:p>
                      <a:pPr algn="l"/>
                      <a:r>
                        <a:rPr lang="en-US" sz="1200" b="0">
                          <a:solidFill>
                            <a:srgbClr val="2F353A"/>
                          </a:solidFill>
                          <a:latin typeface="Aptos"/>
                        </a:rPr>
                        <a:t>BLZ 1994 (LFS)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>
                          <a:solidFill>
                            <a:srgbClr val="2F353A"/>
                          </a:solidFill>
                          <a:latin typeface="Aptos"/>
                        </a:rPr>
                        <a:t>20.0%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>
                          <a:solidFill>
                            <a:srgbClr val="2F353A"/>
                          </a:solidFill>
                          <a:latin typeface="Aptos"/>
                        </a:rPr>
                        <a:t>0.3%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>
                          <a:solidFill>
                            <a:srgbClr val="2F353A"/>
                          </a:solidFill>
                          <a:latin typeface="Aptos"/>
                        </a:rPr>
                        <a:t>20.0%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>
                          <a:solidFill>
                            <a:srgbClr val="2F353A"/>
                          </a:solidFill>
                          <a:latin typeface="Aptos"/>
                        </a:rPr>
                        <a:t>0.3%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7323">
                <a:tc>
                  <a:txBody>
                    <a:bodyPr/>
                    <a:lstStyle/>
                    <a:p>
                      <a:pPr algn="l"/>
                      <a:r>
                        <a:rPr lang="en-US" sz="1200" b="0">
                          <a:solidFill>
                            <a:srgbClr val="2F353A"/>
                          </a:solidFill>
                          <a:latin typeface="Aptos"/>
                        </a:rPr>
                        <a:t>BLZ 1997 (LFS)</a:t>
                      </a:r>
                    </a:p>
                  </a:txBody>
                  <a:tcPr marL="36576" marR="36576" marT="18288" marB="18288" anchor="ctr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>
                          <a:solidFill>
                            <a:srgbClr val="2F353A"/>
                          </a:solidFill>
                          <a:latin typeface="Aptos"/>
                        </a:rPr>
                        <a:t>18.2%</a:t>
                      </a:r>
                    </a:p>
                  </a:txBody>
                  <a:tcPr marL="36576" marR="36576" marT="18288" marB="18288" anchor="ctr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>
                          <a:solidFill>
                            <a:srgbClr val="2F353A"/>
                          </a:solidFill>
                          <a:latin typeface="Aptos"/>
                        </a:rPr>
                        <a:t>0.1%</a:t>
                      </a:r>
                    </a:p>
                  </a:txBody>
                  <a:tcPr marL="36576" marR="36576" marT="18288" marB="18288" anchor="ctr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>
                          <a:solidFill>
                            <a:srgbClr val="2F353A"/>
                          </a:solidFill>
                          <a:latin typeface="Aptos"/>
                        </a:rPr>
                        <a:t>19.4%</a:t>
                      </a:r>
                    </a:p>
                  </a:txBody>
                  <a:tcPr marL="36576" marR="36576" marT="18288" marB="18288" anchor="ctr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>
                          <a:solidFill>
                            <a:srgbClr val="2F353A"/>
                          </a:solidFill>
                          <a:latin typeface="Aptos"/>
                        </a:rPr>
                        <a:t>0.2%</a:t>
                      </a:r>
                    </a:p>
                  </a:txBody>
                  <a:tcPr marL="36576" marR="36576" marT="18288" marB="18288" anchor="ctr">
                    <a:solidFill>
                      <a:srgbClr val="F4F7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7323">
                <a:tc>
                  <a:txBody>
                    <a:bodyPr/>
                    <a:lstStyle/>
                    <a:p>
                      <a:pPr algn="l"/>
                      <a:r>
                        <a:rPr lang="en-US" sz="1200" b="0">
                          <a:solidFill>
                            <a:srgbClr val="2F353A"/>
                          </a:solidFill>
                          <a:latin typeface="Aptos"/>
                        </a:rPr>
                        <a:t>SYC 2013 (HBS)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>
                          <a:solidFill>
                            <a:srgbClr val="2F353A"/>
                          </a:solidFill>
                          <a:latin typeface="Aptos"/>
                        </a:rPr>
                        <a:t>12.1%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>
                          <a:solidFill>
                            <a:srgbClr val="2F353A"/>
                          </a:solidFill>
                          <a:latin typeface="Aptos"/>
                        </a:rPr>
                        <a:t>0.2%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>
                          <a:solidFill>
                            <a:srgbClr val="2F353A"/>
                          </a:solidFill>
                          <a:latin typeface="Aptos"/>
                        </a:rPr>
                        <a:t>17.6%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>
                          <a:solidFill>
                            <a:srgbClr val="2F353A"/>
                          </a:solidFill>
                          <a:latin typeface="Aptos"/>
                        </a:rPr>
                        <a:t>0.9%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7323">
                <a:tc>
                  <a:txBody>
                    <a:bodyPr/>
                    <a:lstStyle/>
                    <a:p>
                      <a:pPr algn="l"/>
                      <a:r>
                        <a:rPr lang="en-US" sz="1200" b="0">
                          <a:solidFill>
                            <a:srgbClr val="2F353A"/>
                          </a:solidFill>
                          <a:latin typeface="Aptos"/>
                        </a:rPr>
                        <a:t>MDV 2002 (HIES)</a:t>
                      </a:r>
                    </a:p>
                  </a:txBody>
                  <a:tcPr marL="36576" marR="36576" marT="18288" marB="18288" anchor="ctr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>
                          <a:solidFill>
                            <a:srgbClr val="2F353A"/>
                          </a:solidFill>
                          <a:latin typeface="Aptos"/>
                        </a:rPr>
                        <a:t>11.8%</a:t>
                      </a:r>
                    </a:p>
                  </a:txBody>
                  <a:tcPr marL="36576" marR="36576" marT="18288" marB="18288" anchor="ctr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>
                          <a:solidFill>
                            <a:srgbClr val="2F353A"/>
                          </a:solidFill>
                          <a:latin typeface="Aptos"/>
                        </a:rPr>
                        <a:t>0.3%</a:t>
                      </a:r>
                    </a:p>
                  </a:txBody>
                  <a:tcPr marL="36576" marR="36576" marT="18288" marB="18288" anchor="ctr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>
                          <a:solidFill>
                            <a:srgbClr val="2F353A"/>
                          </a:solidFill>
                          <a:latin typeface="Aptos"/>
                        </a:rPr>
                        <a:t>12.7%</a:t>
                      </a:r>
                    </a:p>
                  </a:txBody>
                  <a:tcPr marL="36576" marR="36576" marT="18288" marB="18288" anchor="ctr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>
                          <a:solidFill>
                            <a:srgbClr val="2F353A"/>
                          </a:solidFill>
                          <a:latin typeface="Aptos"/>
                        </a:rPr>
                        <a:t>0.5%</a:t>
                      </a:r>
                    </a:p>
                  </a:txBody>
                  <a:tcPr marL="36576" marR="36576" marT="18288" marB="18288" anchor="ctr">
                    <a:solidFill>
                      <a:srgbClr val="F4F7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7323">
                <a:tc>
                  <a:txBody>
                    <a:bodyPr/>
                    <a:lstStyle/>
                    <a:p>
                      <a:pPr algn="l"/>
                      <a:r>
                        <a:rPr lang="en-US" sz="1200" b="0">
                          <a:solidFill>
                            <a:srgbClr val="2F353A"/>
                          </a:solidFill>
                          <a:latin typeface="Aptos"/>
                        </a:rPr>
                        <a:t>MWI 2016 (IHS-IV)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>
                          <a:solidFill>
                            <a:srgbClr val="2F353A"/>
                          </a:solidFill>
                          <a:latin typeface="Aptos"/>
                        </a:rPr>
                        <a:t>11.0%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>
                          <a:solidFill>
                            <a:srgbClr val="2F353A"/>
                          </a:solidFill>
                          <a:latin typeface="Aptos"/>
                        </a:rPr>
                        <a:t>0.1%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>
                          <a:solidFill>
                            <a:srgbClr val="2F353A"/>
                          </a:solidFill>
                          <a:latin typeface="Aptos"/>
                        </a:rPr>
                        <a:t>15.8%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>
                          <a:solidFill>
                            <a:srgbClr val="2F353A"/>
                          </a:solidFill>
                          <a:latin typeface="Aptos"/>
                        </a:rPr>
                        <a:t>0.8%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7323">
                <a:tc>
                  <a:txBody>
                    <a:bodyPr/>
                    <a:lstStyle/>
                    <a:p>
                      <a:pPr algn="l"/>
                      <a:r>
                        <a:rPr lang="en-US" sz="1200" b="0">
                          <a:solidFill>
                            <a:srgbClr val="2F353A"/>
                          </a:solidFill>
                          <a:latin typeface="Aptos"/>
                        </a:rPr>
                        <a:t>ETH 1995 (HICES)</a:t>
                      </a:r>
                    </a:p>
                  </a:txBody>
                  <a:tcPr marL="36576" marR="36576" marT="18288" marB="18288" anchor="ctr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>
                          <a:solidFill>
                            <a:srgbClr val="2F353A"/>
                          </a:solidFill>
                          <a:latin typeface="Aptos"/>
                        </a:rPr>
                        <a:t>10.9%</a:t>
                      </a:r>
                    </a:p>
                  </a:txBody>
                  <a:tcPr marL="36576" marR="36576" marT="18288" marB="18288" anchor="ctr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>
                          <a:solidFill>
                            <a:srgbClr val="2F353A"/>
                          </a:solidFill>
                          <a:latin typeface="Aptos"/>
                        </a:rPr>
                        <a:t>0.4%</a:t>
                      </a:r>
                    </a:p>
                  </a:txBody>
                  <a:tcPr marL="36576" marR="36576" marT="18288" marB="18288" anchor="ctr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>
                          <a:solidFill>
                            <a:srgbClr val="2F353A"/>
                          </a:solidFill>
                          <a:latin typeface="Aptos"/>
                        </a:rPr>
                        <a:t>15.7%</a:t>
                      </a:r>
                    </a:p>
                  </a:txBody>
                  <a:tcPr marL="36576" marR="36576" marT="18288" marB="18288" anchor="ctr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>
                          <a:solidFill>
                            <a:srgbClr val="2F353A"/>
                          </a:solidFill>
                          <a:latin typeface="Aptos"/>
                        </a:rPr>
                        <a:t>1.0%</a:t>
                      </a:r>
                    </a:p>
                  </a:txBody>
                  <a:tcPr marL="36576" marR="36576" marT="18288" marB="18288" anchor="ctr">
                    <a:solidFill>
                      <a:srgbClr val="F4F7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07323">
                <a:tc>
                  <a:txBody>
                    <a:bodyPr/>
                    <a:lstStyle/>
                    <a:p>
                      <a:pPr algn="l"/>
                      <a:r>
                        <a:rPr lang="en-US" sz="1200" b="0">
                          <a:solidFill>
                            <a:srgbClr val="2F353A"/>
                          </a:solidFill>
                          <a:latin typeface="Aptos"/>
                        </a:rPr>
                        <a:t>MDG 1993 (EPM)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>
                          <a:solidFill>
                            <a:srgbClr val="2F353A"/>
                          </a:solidFill>
                          <a:latin typeface="Aptos"/>
                        </a:rPr>
                        <a:t>8.8%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>
                          <a:solidFill>
                            <a:srgbClr val="2F353A"/>
                          </a:solidFill>
                          <a:latin typeface="Aptos"/>
                        </a:rPr>
                        <a:t>0.3%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>
                          <a:solidFill>
                            <a:srgbClr val="2F353A"/>
                          </a:solidFill>
                          <a:latin typeface="Aptos"/>
                        </a:rPr>
                        <a:t>11.6%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>
                          <a:solidFill>
                            <a:srgbClr val="2F353A"/>
                          </a:solidFill>
                          <a:latin typeface="Aptos"/>
                        </a:rPr>
                        <a:t>0.5%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07330">
                <a:tc>
                  <a:txBody>
                    <a:bodyPr/>
                    <a:lstStyle/>
                    <a:p>
                      <a:pPr algn="l"/>
                      <a:r>
                        <a:rPr lang="en-US" sz="1200" b="0">
                          <a:solidFill>
                            <a:srgbClr val="2F353A"/>
                          </a:solidFill>
                          <a:latin typeface="Aptos"/>
                        </a:rPr>
                        <a:t>PRY 2002 (EPH)</a:t>
                      </a:r>
                    </a:p>
                  </a:txBody>
                  <a:tcPr marL="36576" marR="36576" marT="18288" marB="18288" anchor="ctr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>
                          <a:solidFill>
                            <a:srgbClr val="2F353A"/>
                          </a:solidFill>
                          <a:latin typeface="Aptos"/>
                        </a:rPr>
                        <a:t>8.4%</a:t>
                      </a:r>
                    </a:p>
                  </a:txBody>
                  <a:tcPr marL="36576" marR="36576" marT="18288" marB="18288" anchor="ctr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>
                          <a:solidFill>
                            <a:srgbClr val="2F353A"/>
                          </a:solidFill>
                          <a:latin typeface="Aptos"/>
                        </a:rPr>
                        <a:t>0.1%</a:t>
                      </a:r>
                    </a:p>
                  </a:txBody>
                  <a:tcPr marL="36576" marR="36576" marT="18288" marB="18288" anchor="ctr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>
                          <a:solidFill>
                            <a:srgbClr val="2F353A"/>
                          </a:solidFill>
                          <a:latin typeface="Aptos"/>
                        </a:rPr>
                        <a:t>14.0%</a:t>
                      </a:r>
                    </a:p>
                  </a:txBody>
                  <a:tcPr marL="36576" marR="36576" marT="18288" marB="18288" anchor="ctr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>
                          <a:solidFill>
                            <a:srgbClr val="2F353A"/>
                          </a:solidFill>
                          <a:latin typeface="Aptos"/>
                        </a:rPr>
                        <a:t>0.3%</a:t>
                      </a:r>
                    </a:p>
                  </a:txBody>
                  <a:tcPr marL="36576" marR="36576" marT="18288" marB="18288" anchor="ctr">
                    <a:solidFill>
                      <a:srgbClr val="F4F7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583845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5743432" cy="40011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lang="en-US" sz="2600" b="1">
                <a:solidFill>
                  <a:srgbClr val="1E3043"/>
                </a:solidFill>
                <a:latin typeface="Aptos Display"/>
              </a:rPr>
              <a:t>Arbitrary cutoffs: experimental approach</a:t>
            </a:r>
            <a:endParaRPr sz="2600" b="1">
              <a:solidFill>
                <a:srgbClr val="1E3043"/>
              </a:solidFill>
              <a:latin typeface="Aptos Display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02920" y="832104"/>
            <a:ext cx="1005840" cy="54864"/>
          </a:xfrm>
          <a:prstGeom prst="rect">
            <a:avLst/>
          </a:prstGeom>
          <a:solidFill>
            <a:srgbClr val="2F81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475720" y="347472"/>
            <a:ext cx="50292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200" b="1">
                <a:solidFill>
                  <a:srgbClr val="2F8177"/>
                </a:solidFill>
                <a:latin typeface="Aptos"/>
              </a:rP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122774"/>
            <a:ext cx="1482778" cy="20005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300" b="1">
                <a:solidFill>
                  <a:srgbClr val="C8873A"/>
                </a:solidFill>
                <a:latin typeface="Aptos"/>
              </a:rPr>
              <a:t>REFERENCE RULE</a:t>
            </a:r>
            <a:r>
              <a:rPr lang="en-US" sz="1300" b="1">
                <a:solidFill>
                  <a:srgbClr val="C8873A"/>
                </a:solidFill>
                <a:latin typeface="Aptos"/>
              </a:rPr>
              <a:t> 2</a:t>
            </a:r>
            <a:endParaRPr sz="1300" b="1">
              <a:solidFill>
                <a:srgbClr val="C8873A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85800" y="2451958"/>
            <a:ext cx="5859425" cy="32316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100" b="1">
                <a:solidFill>
                  <a:srgbClr val="1E3043"/>
                </a:solidFill>
                <a:latin typeface="Aptos"/>
              </a:rPr>
              <a:t>&gt;1% of the weighted population </a:t>
            </a:r>
            <a:r>
              <a:rPr lang="en-US" sz="2100" b="1">
                <a:solidFill>
                  <a:srgbClr val="1E3043"/>
                </a:solidFill>
                <a:latin typeface="Aptos"/>
              </a:rPr>
              <a:t>above </a:t>
            </a:r>
            <a:r>
              <a:rPr sz="2100" b="1">
                <a:solidFill>
                  <a:srgbClr val="1E3043"/>
                </a:solidFill>
                <a:latin typeface="Aptos"/>
              </a:rPr>
              <a:t>threshold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94471"/>
            <a:ext cx="8323176" cy="2308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500" b="0">
                <a:solidFill>
                  <a:srgbClr val="2F353A"/>
                </a:solidFill>
                <a:latin typeface="Aptos"/>
              </a:rPr>
              <a:t>Th</a:t>
            </a:r>
            <a:r>
              <a:rPr lang="en-US" sz="1500" b="0">
                <a:solidFill>
                  <a:srgbClr val="2F353A"/>
                </a:solidFill>
                <a:latin typeface="Aptos"/>
              </a:rPr>
              <a:t>ese are </a:t>
            </a:r>
            <a:r>
              <a:rPr sz="1500" b="0">
                <a:solidFill>
                  <a:srgbClr val="2F353A"/>
                </a:solidFill>
                <a:latin typeface="Aptos"/>
              </a:rPr>
              <a:t>empirical reference point</a:t>
            </a:r>
            <a:r>
              <a:rPr lang="en-US" sz="1500" b="0">
                <a:solidFill>
                  <a:srgbClr val="2F353A"/>
                </a:solidFill>
                <a:latin typeface="Aptos"/>
              </a:rPr>
              <a:t>s</a:t>
            </a:r>
            <a:r>
              <a:rPr sz="1500" b="0">
                <a:solidFill>
                  <a:srgbClr val="2F353A"/>
                </a:solidFill>
                <a:latin typeface="Aptos"/>
              </a:rPr>
              <a:t> for prioritizing surveys for review, not an official statistical cutoff.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510528"/>
            <a:ext cx="640080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0">
                <a:solidFill>
                  <a:srgbClr val="646767"/>
                </a:solidFill>
                <a:latin typeface="Aptos"/>
              </a:rPr>
              <a:t>Top-censoring analysis | Malawi 1997 deep dive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FC968AA-431E-B00C-330B-0B94EACA94BC}"/>
              </a:ext>
            </a:extLst>
          </p:cNvPr>
          <p:cNvSpPr txBox="1"/>
          <p:nvPr/>
        </p:nvSpPr>
        <p:spPr>
          <a:xfrm>
            <a:off x="668360" y="1333477"/>
            <a:ext cx="1482778" cy="20005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>
                <a:solidFill>
                  <a:srgbClr val="C8873A"/>
                </a:solidFill>
                <a:latin typeface="Aptos"/>
              </a:rPr>
              <a:t>REFERENCE RULE</a:t>
            </a:r>
            <a:r>
              <a:rPr lang="en-US" sz="1300" b="1">
                <a:solidFill>
                  <a:srgbClr val="C8873A"/>
                </a:solidFill>
                <a:latin typeface="Aptos"/>
              </a:rPr>
              <a:t> 1</a:t>
            </a:r>
            <a:endParaRPr sz="1300" b="1">
              <a:solidFill>
                <a:srgbClr val="C8873A"/>
              </a:solidFill>
              <a:latin typeface="Aptos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896BD9F-5A17-51AA-4C07-F10797B9D93B}"/>
              </a:ext>
            </a:extLst>
          </p:cNvPr>
          <p:cNvSpPr txBox="1"/>
          <p:nvPr/>
        </p:nvSpPr>
        <p:spPr>
          <a:xfrm>
            <a:off x="729016" y="1662661"/>
            <a:ext cx="4264822" cy="32316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100" b="1">
                <a:solidFill>
                  <a:srgbClr val="1E3043"/>
                </a:solidFill>
                <a:latin typeface="Aptos"/>
              </a:rPr>
              <a:t>&gt;</a:t>
            </a:r>
            <a:r>
              <a:rPr lang="en-US" sz="2100" b="1">
                <a:solidFill>
                  <a:srgbClr val="1E3043"/>
                </a:solidFill>
                <a:latin typeface="Aptos"/>
              </a:rPr>
              <a:t>5</a:t>
            </a:r>
            <a:r>
              <a:rPr sz="2100" b="1">
                <a:solidFill>
                  <a:srgbClr val="1E3043"/>
                </a:solidFill>
                <a:latin typeface="Aptos"/>
              </a:rPr>
              <a:t>% of the </a:t>
            </a:r>
            <a:r>
              <a:rPr lang="en-US" sz="2100" b="1">
                <a:solidFill>
                  <a:srgbClr val="1E3043"/>
                </a:solidFill>
                <a:latin typeface="Aptos"/>
              </a:rPr>
              <a:t>welfare above </a:t>
            </a:r>
            <a:r>
              <a:rPr sz="2100" b="1">
                <a:solidFill>
                  <a:srgbClr val="1E3043"/>
                </a:solidFill>
                <a:latin typeface="Aptos"/>
              </a:rPr>
              <a:t>threshold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2971800"/>
            <a:ext cx="118872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2F8177"/>
                </a:solidFill>
                <a:latin typeface="Aptos"/>
              </a:rPr>
              <a:t>RESULT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37360" y="2944368"/>
            <a:ext cx="94183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500" b="1">
                <a:solidFill>
                  <a:srgbClr val="1E3043"/>
                </a:solidFill>
                <a:latin typeface="Aptos"/>
              </a:rPr>
              <a:t>LIS: 24 surveys</a:t>
            </a:r>
            <a:r>
              <a:rPr sz="1500" b="0">
                <a:solidFill>
                  <a:srgbClr val="2F353A"/>
                </a:solidFill>
                <a:latin typeface="Aptos"/>
              </a:rPr>
              <a:t>  |  outdetect: </a:t>
            </a:r>
            <a:r>
              <a:rPr sz="1500" b="1">
                <a:solidFill>
                  <a:srgbClr val="1E3043"/>
                </a:solidFill>
                <a:latin typeface="Aptos"/>
              </a:rPr>
              <a:t>399 surveys</a:t>
            </a:r>
            <a:r>
              <a:rPr sz="1500" b="0">
                <a:solidFill>
                  <a:srgbClr val="2F353A"/>
                </a:solidFill>
                <a:latin typeface="Aptos"/>
              </a:rPr>
              <a:t> meet the welfare-share rule.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3239295"/>
            <a:ext cx="118872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2F8177"/>
                </a:solidFill>
                <a:latin typeface="Aptos"/>
              </a:rPr>
              <a:t>RESULT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37360" y="3211862"/>
            <a:ext cx="94183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500" b="1">
                <a:solidFill>
                  <a:srgbClr val="1E3043"/>
                </a:solidFill>
                <a:latin typeface="Aptos"/>
              </a:rPr>
              <a:t>LIS: 0 surveys</a:t>
            </a:r>
            <a:r>
              <a:rPr sz="1500" b="0">
                <a:solidFill>
                  <a:srgbClr val="2F353A"/>
                </a:solidFill>
                <a:latin typeface="Aptos"/>
              </a:rPr>
              <a:t>  |  outdetect: </a:t>
            </a:r>
            <a:r>
              <a:rPr sz="1500" b="1">
                <a:solidFill>
                  <a:srgbClr val="1E3043"/>
                </a:solidFill>
                <a:latin typeface="Aptos"/>
              </a:rPr>
              <a:t>151 surveys</a:t>
            </a:r>
            <a:r>
              <a:rPr sz="1500" b="0">
                <a:solidFill>
                  <a:srgbClr val="2F353A"/>
                </a:solidFill>
                <a:latin typeface="Aptos"/>
              </a:rPr>
              <a:t> meet the population-share rule.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3800218"/>
            <a:ext cx="1060704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2F8177"/>
                </a:solidFill>
                <a:latin typeface="Aptos"/>
              </a:rPr>
              <a:t>OVERLAP  </a:t>
            </a:r>
            <a:r>
              <a:rPr sz="1300" b="0">
                <a:solidFill>
                  <a:srgbClr val="2F353A"/>
                </a:solidFill>
                <a:latin typeface="Aptos"/>
              </a:rPr>
              <a:t>Four survey-years satisfy both rules at once: Comoros 2004, Malawi 1997, Rwanda 2005, Rwanda 2013 (table below).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EFF6B640-5F99-FB41-B4B6-8344F757E6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05728684"/>
              </p:ext>
            </p:extLst>
          </p:nvPr>
        </p:nvGraphicFramePr>
        <p:xfrm>
          <a:off x="668360" y="4228826"/>
          <a:ext cx="932688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48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8803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algn="ctr"/>
                      <a:r>
                        <a:rPr lang="en-US" sz="1200" b="1">
                          <a:solidFill>
                            <a:srgbClr val="FFFFFF"/>
                          </a:solidFill>
                          <a:latin typeface="Aptos"/>
                        </a:rPr>
                        <a:t>Country</a:t>
                      </a:r>
                    </a:p>
                  </a:txBody>
                  <a:tcPr marL="54864" marR="54864" marT="32004" marB="32004" anchor="ctr">
                    <a:solidFill>
                      <a:srgbClr val="2F817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>
                          <a:solidFill>
                            <a:srgbClr val="FFFFFF"/>
                          </a:solidFill>
                          <a:latin typeface="Aptos"/>
                        </a:rPr>
                        <a:t>Year</a:t>
                      </a:r>
                    </a:p>
                  </a:txBody>
                  <a:tcPr marL="54864" marR="54864" marT="32004" marB="32004" anchor="ctr">
                    <a:solidFill>
                      <a:srgbClr val="2F817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>
                          <a:solidFill>
                            <a:srgbClr val="FFFFFF"/>
                          </a:solidFill>
                          <a:latin typeface="Aptos"/>
                        </a:rPr>
                        <a:t>Survey</a:t>
                      </a:r>
                    </a:p>
                  </a:txBody>
                  <a:tcPr marL="54864" marR="54864" marT="32004" marB="32004" anchor="ctr">
                    <a:solidFill>
                      <a:srgbClr val="2F817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>
                          <a:solidFill>
                            <a:srgbClr val="FFFFFF"/>
                          </a:solidFill>
                          <a:latin typeface="Aptos"/>
                        </a:rPr>
                        <a:t>LIS welfare share</a:t>
                      </a:r>
                    </a:p>
                  </a:txBody>
                  <a:tcPr marL="54864" marR="54864" marT="32004" marB="32004" anchor="ctr">
                    <a:solidFill>
                      <a:srgbClr val="2F817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>
                          <a:solidFill>
                            <a:srgbClr val="FFFFFF"/>
                          </a:solidFill>
                          <a:latin typeface="Aptos"/>
                        </a:rPr>
                        <a:t>Outdetect population share</a:t>
                      </a:r>
                    </a:p>
                  </a:txBody>
                  <a:tcPr marL="54864" marR="54864" marT="32004" marB="32004" anchor="ctr">
                    <a:solidFill>
                      <a:srgbClr val="2F817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lang="en-US" sz="1200" b="0">
                          <a:solidFill>
                            <a:srgbClr val="2F353A"/>
                          </a:solidFill>
                          <a:latin typeface="Aptos"/>
                        </a:rPr>
                        <a:t>Comoros</a:t>
                      </a:r>
                    </a:p>
                  </a:txBody>
                  <a:tcPr marL="54864" marR="54864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>
                          <a:solidFill>
                            <a:srgbClr val="2F353A"/>
                          </a:solidFill>
                          <a:latin typeface="Aptos"/>
                        </a:rPr>
                        <a:t>2004</a:t>
                      </a:r>
                    </a:p>
                  </a:txBody>
                  <a:tcPr marL="54864" marR="54864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>
                          <a:solidFill>
                            <a:srgbClr val="2F353A"/>
                          </a:solidFill>
                          <a:latin typeface="Aptos"/>
                        </a:rPr>
                        <a:t>EIM</a:t>
                      </a:r>
                    </a:p>
                  </a:txBody>
                  <a:tcPr marL="54864" marR="54864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>
                          <a:solidFill>
                            <a:srgbClr val="2F353A"/>
                          </a:solidFill>
                          <a:latin typeface="Aptos"/>
                        </a:rPr>
                        <a:t>7.6%</a:t>
                      </a:r>
                    </a:p>
                  </a:txBody>
                  <a:tcPr marL="54864" marR="54864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>
                          <a:solidFill>
                            <a:srgbClr val="2F353A"/>
                          </a:solidFill>
                          <a:latin typeface="Aptos"/>
                        </a:rPr>
                        <a:t>1.4%</a:t>
                      </a:r>
                    </a:p>
                  </a:txBody>
                  <a:tcPr marL="54864" marR="54864" marT="32004" marB="3200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lang="en-US" sz="1200" b="0">
                          <a:solidFill>
                            <a:srgbClr val="2F353A"/>
                          </a:solidFill>
                          <a:latin typeface="Aptos"/>
                        </a:rPr>
                        <a:t>Malawi</a:t>
                      </a:r>
                    </a:p>
                  </a:txBody>
                  <a:tcPr marL="54864" marR="54864" marT="32004" marB="32004" anchor="ctr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>
                          <a:solidFill>
                            <a:srgbClr val="2F353A"/>
                          </a:solidFill>
                          <a:latin typeface="Aptos"/>
                        </a:rPr>
                        <a:t>1997</a:t>
                      </a:r>
                    </a:p>
                  </a:txBody>
                  <a:tcPr marL="54864" marR="54864" marT="32004" marB="32004" anchor="ctr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>
                          <a:solidFill>
                            <a:srgbClr val="2F353A"/>
                          </a:solidFill>
                          <a:latin typeface="Aptos"/>
                        </a:rPr>
                        <a:t>IHS-I</a:t>
                      </a:r>
                    </a:p>
                  </a:txBody>
                  <a:tcPr marL="54864" marR="54864" marT="32004" marB="32004" anchor="ctr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>
                          <a:solidFill>
                            <a:srgbClr val="2F353A"/>
                          </a:solidFill>
                          <a:latin typeface="Aptos"/>
                        </a:rPr>
                        <a:t>41.6%</a:t>
                      </a:r>
                    </a:p>
                  </a:txBody>
                  <a:tcPr marL="54864" marR="54864" marT="32004" marB="32004" anchor="ctr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>
                          <a:solidFill>
                            <a:srgbClr val="2F353A"/>
                          </a:solidFill>
                          <a:latin typeface="Aptos"/>
                        </a:rPr>
                        <a:t>1.5%</a:t>
                      </a:r>
                    </a:p>
                  </a:txBody>
                  <a:tcPr marL="54864" marR="54864" marT="32004" marB="32004" anchor="ctr">
                    <a:solidFill>
                      <a:srgbClr val="F4F7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lang="en-US" sz="1200" b="0">
                          <a:solidFill>
                            <a:srgbClr val="2F353A"/>
                          </a:solidFill>
                          <a:latin typeface="Aptos"/>
                        </a:rPr>
                        <a:t>Rwanda</a:t>
                      </a:r>
                    </a:p>
                  </a:txBody>
                  <a:tcPr marL="54864" marR="54864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>
                          <a:solidFill>
                            <a:srgbClr val="2F353A"/>
                          </a:solidFill>
                          <a:latin typeface="Aptos"/>
                        </a:rPr>
                        <a:t>2005</a:t>
                      </a:r>
                    </a:p>
                  </a:txBody>
                  <a:tcPr marL="54864" marR="54864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>
                          <a:solidFill>
                            <a:srgbClr val="2F353A"/>
                          </a:solidFill>
                          <a:latin typeface="Aptos"/>
                        </a:rPr>
                        <a:t>EICV-II</a:t>
                      </a:r>
                    </a:p>
                  </a:txBody>
                  <a:tcPr marL="54864" marR="54864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>
                          <a:solidFill>
                            <a:srgbClr val="2F353A"/>
                          </a:solidFill>
                          <a:latin typeface="Aptos"/>
                        </a:rPr>
                        <a:t>6.1%</a:t>
                      </a:r>
                    </a:p>
                  </a:txBody>
                  <a:tcPr marL="54864" marR="54864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>
                          <a:solidFill>
                            <a:srgbClr val="2F353A"/>
                          </a:solidFill>
                          <a:latin typeface="Aptos"/>
                        </a:rPr>
                        <a:t>1.2%</a:t>
                      </a:r>
                    </a:p>
                  </a:txBody>
                  <a:tcPr marL="54864" marR="54864" marT="32004" marB="3200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lang="en-US" sz="1200" b="0">
                          <a:solidFill>
                            <a:srgbClr val="2F353A"/>
                          </a:solidFill>
                          <a:latin typeface="Aptos"/>
                        </a:rPr>
                        <a:t>Rwanda</a:t>
                      </a:r>
                    </a:p>
                  </a:txBody>
                  <a:tcPr marL="54864" marR="54864" marT="32004" marB="32004" anchor="ctr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>
                          <a:solidFill>
                            <a:srgbClr val="2F353A"/>
                          </a:solidFill>
                          <a:latin typeface="Aptos"/>
                        </a:rPr>
                        <a:t>2013</a:t>
                      </a:r>
                    </a:p>
                  </a:txBody>
                  <a:tcPr marL="54864" marR="54864" marT="32004" marB="32004" anchor="ctr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>
                          <a:solidFill>
                            <a:srgbClr val="2F353A"/>
                          </a:solidFill>
                          <a:latin typeface="Aptos"/>
                        </a:rPr>
                        <a:t>EICV-IV</a:t>
                      </a:r>
                    </a:p>
                  </a:txBody>
                  <a:tcPr marL="54864" marR="54864" marT="32004" marB="32004" anchor="ctr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>
                          <a:solidFill>
                            <a:srgbClr val="2F353A"/>
                          </a:solidFill>
                          <a:latin typeface="Aptos"/>
                        </a:rPr>
                        <a:t>5.4%</a:t>
                      </a:r>
                    </a:p>
                  </a:txBody>
                  <a:tcPr marL="54864" marR="54864" marT="32004" marB="32004" anchor="ctr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>
                          <a:solidFill>
                            <a:srgbClr val="2F353A"/>
                          </a:solidFill>
                          <a:latin typeface="Aptos"/>
                        </a:rPr>
                        <a:t>1.5%</a:t>
                      </a:r>
                    </a:p>
                  </a:txBody>
                  <a:tcPr marL="54864" marR="54864" marT="32004" marB="32004" anchor="ctr">
                    <a:solidFill>
                      <a:srgbClr val="F4F7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0698480" cy="437043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2600" b="1">
                <a:solidFill>
                  <a:srgbClr val="1E3043"/>
                </a:solidFill>
                <a:latin typeface="Aptos Display"/>
              </a:rPr>
              <a:t>Malawi 1997</a:t>
            </a:r>
            <a:r>
              <a:rPr lang="en-US" sz="2600" b="1">
                <a:solidFill>
                  <a:srgbClr val="1E3043"/>
                </a:solidFill>
                <a:latin typeface="Aptos Display"/>
              </a:rPr>
              <a:t>: sensitivity to top coding</a:t>
            </a:r>
            <a:endParaRPr sz="2600" b="1">
              <a:solidFill>
                <a:srgbClr val="1E3043"/>
              </a:solidFill>
              <a:latin typeface="Aptos Display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02920" y="832104"/>
            <a:ext cx="1005840" cy="54864"/>
          </a:xfrm>
          <a:prstGeom prst="rect">
            <a:avLst/>
          </a:prstGeom>
          <a:solidFill>
            <a:srgbClr val="2F81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932688"/>
            <a:ext cx="10881360" cy="252377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500" b="0">
                <a:solidFill>
                  <a:srgbClr val="646767"/>
                </a:solidFill>
                <a:latin typeface="Aptos"/>
              </a:rPr>
              <a:t>The chart shows the effect of applying the LIS top-coding rule across surveys.</a:t>
            </a:r>
            <a:endParaRPr lang="es-ES" sz="1400" b="0">
              <a:solidFill>
                <a:srgbClr val="646767"/>
              </a:solidFill>
              <a:latin typeface="Apto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475720" y="347472"/>
            <a:ext cx="502920" cy="3200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/>
            <a:r>
              <a:rPr sz="1200" b="1">
                <a:solidFill>
                  <a:srgbClr val="2F8177"/>
                </a:solidFill>
                <a:latin typeface="Aptos"/>
              </a:rPr>
              <a:t>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71016"/>
            <a:ext cx="3383280" cy="3200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2100" b="1">
                <a:solidFill>
                  <a:srgbClr val="1E3043"/>
                </a:solidFill>
                <a:latin typeface="Aptos Display"/>
              </a:rPr>
              <a:t>Malawi 1997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510528"/>
            <a:ext cx="6400800" cy="16459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900" b="0">
                <a:solidFill>
                  <a:srgbClr val="646767"/>
                </a:solidFill>
                <a:latin typeface="Aptos"/>
              </a:rPr>
              <a:t>Top-censoring analysis | Malawi 1997 deep dive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5348225-1027-DD2B-5F8B-DDD93E3A2D29}"/>
              </a:ext>
            </a:extLst>
          </p:cNvPr>
          <p:cNvSpPr txBox="1"/>
          <p:nvPr/>
        </p:nvSpPr>
        <p:spPr>
          <a:xfrm>
            <a:off x="562970" y="1782050"/>
            <a:ext cx="132588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400" b="1">
                <a:solidFill>
                  <a:srgbClr val="646767"/>
                </a:solidFill>
                <a:latin typeface="Aptos"/>
              </a:rPr>
              <a:t>Mean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E927679-5C30-2E23-CBC4-95B5EB4EAC1D}"/>
              </a:ext>
            </a:extLst>
          </p:cNvPr>
          <p:cNvSpPr txBox="1"/>
          <p:nvPr/>
        </p:nvSpPr>
        <p:spPr>
          <a:xfrm>
            <a:off x="1843130" y="1782050"/>
            <a:ext cx="1965960" cy="252377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400" b="1">
                <a:solidFill>
                  <a:srgbClr val="2F353A"/>
                </a:solidFill>
                <a:latin typeface="Aptos"/>
              </a:rPr>
              <a:t>5.78 </a:t>
            </a:r>
            <a:r>
              <a:rPr lang="en-US" sz="1400" b="1">
                <a:solidFill>
                  <a:srgbClr val="2F353A"/>
                </a:solidFill>
                <a:latin typeface="Aptos"/>
              </a:rPr>
              <a:t>→</a:t>
            </a:r>
            <a:r>
              <a:rPr sz="1400" b="1">
                <a:solidFill>
                  <a:srgbClr val="2F353A"/>
                </a:solidFill>
                <a:latin typeface="Aptos"/>
              </a:rPr>
              <a:t> 3.59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8810131-43DD-406F-0625-42D40EFE071F}"/>
              </a:ext>
            </a:extLst>
          </p:cNvPr>
          <p:cNvSpPr txBox="1"/>
          <p:nvPr/>
        </p:nvSpPr>
        <p:spPr>
          <a:xfrm>
            <a:off x="3763370" y="1782050"/>
            <a:ext cx="82296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/>
            <a:r>
              <a:rPr sz="1300" b="1">
                <a:solidFill>
                  <a:srgbClr val="AD463E"/>
                </a:solidFill>
                <a:latin typeface="Aptos"/>
              </a:rPr>
              <a:t>-37.9%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24083C2-36E1-1D48-25CE-EE3919CAF874}"/>
              </a:ext>
            </a:extLst>
          </p:cNvPr>
          <p:cNvSpPr txBox="1"/>
          <p:nvPr/>
        </p:nvSpPr>
        <p:spPr>
          <a:xfrm>
            <a:off x="562970" y="2348978"/>
            <a:ext cx="132588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400" b="1">
                <a:solidFill>
                  <a:srgbClr val="646767"/>
                </a:solidFill>
                <a:latin typeface="Aptos"/>
              </a:rPr>
              <a:t>Gini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1C3779F6-0EC4-4A96-A7FB-5033FAA7306D}"/>
              </a:ext>
            </a:extLst>
          </p:cNvPr>
          <p:cNvSpPr txBox="1"/>
          <p:nvPr/>
        </p:nvSpPr>
        <p:spPr>
          <a:xfrm>
            <a:off x="1843130" y="2348978"/>
            <a:ext cx="1965960" cy="252377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r>
              <a:rPr sz="1400" b="1">
                <a:solidFill>
                  <a:srgbClr val="2F353A"/>
                </a:solidFill>
                <a:latin typeface="Aptos"/>
              </a:rPr>
              <a:t>0.658 </a:t>
            </a:r>
            <a:r>
              <a:rPr lang="en-US" sz="1400" b="1">
                <a:solidFill>
                  <a:srgbClr val="2F353A"/>
                </a:solidFill>
                <a:latin typeface="Aptos"/>
              </a:rPr>
              <a:t>→</a:t>
            </a:r>
            <a:r>
              <a:rPr sz="1400" b="1">
                <a:solidFill>
                  <a:srgbClr val="2F353A"/>
                </a:solidFill>
                <a:latin typeface="Aptos"/>
              </a:rPr>
              <a:t> 0.448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D87F0C3-6713-E8F2-9960-F8FDC06CD68D}"/>
              </a:ext>
            </a:extLst>
          </p:cNvPr>
          <p:cNvSpPr txBox="1"/>
          <p:nvPr/>
        </p:nvSpPr>
        <p:spPr>
          <a:xfrm>
            <a:off x="3763370" y="2348978"/>
            <a:ext cx="82296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/>
            <a:r>
              <a:rPr sz="1300" b="1">
                <a:solidFill>
                  <a:srgbClr val="AD463E"/>
                </a:solidFill>
                <a:latin typeface="Aptos"/>
              </a:rPr>
              <a:t>-31.8%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7BF1FBDD-36A9-17B3-BC93-6218B7C11DBA}"/>
              </a:ext>
            </a:extLst>
          </p:cNvPr>
          <p:cNvSpPr txBox="1"/>
          <p:nvPr/>
        </p:nvSpPr>
        <p:spPr>
          <a:xfrm>
            <a:off x="562970" y="2915906"/>
            <a:ext cx="132588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400" b="1">
                <a:solidFill>
                  <a:srgbClr val="646767"/>
                </a:solidFill>
                <a:latin typeface="Aptos"/>
              </a:rPr>
              <a:t>MLD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87253693-59D9-D3E4-6D30-9AE8B9FB60DC}"/>
              </a:ext>
            </a:extLst>
          </p:cNvPr>
          <p:cNvSpPr txBox="1"/>
          <p:nvPr/>
        </p:nvSpPr>
        <p:spPr>
          <a:xfrm>
            <a:off x="1843130" y="2915906"/>
            <a:ext cx="1965960" cy="252377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r>
              <a:rPr sz="1400" b="1">
                <a:solidFill>
                  <a:srgbClr val="2F353A"/>
                </a:solidFill>
                <a:latin typeface="Aptos"/>
              </a:rPr>
              <a:t>0.811 </a:t>
            </a:r>
            <a:r>
              <a:rPr lang="en-US" sz="1400" b="1">
                <a:solidFill>
                  <a:srgbClr val="2F353A"/>
                </a:solidFill>
                <a:latin typeface="Aptos"/>
              </a:rPr>
              <a:t>→</a:t>
            </a:r>
            <a:r>
              <a:rPr sz="1400" b="1">
                <a:solidFill>
                  <a:srgbClr val="2F353A"/>
                </a:solidFill>
                <a:latin typeface="Aptos"/>
              </a:rPr>
              <a:t> 0.337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70EFC110-F55C-3698-6533-0E387E09DE06}"/>
              </a:ext>
            </a:extLst>
          </p:cNvPr>
          <p:cNvSpPr txBox="1"/>
          <p:nvPr/>
        </p:nvSpPr>
        <p:spPr>
          <a:xfrm>
            <a:off x="3763370" y="2915906"/>
            <a:ext cx="82296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/>
            <a:r>
              <a:rPr sz="1300" b="1">
                <a:solidFill>
                  <a:srgbClr val="AD463E"/>
                </a:solidFill>
                <a:latin typeface="Aptos"/>
              </a:rPr>
              <a:t>-58.5%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EAAE0D36-554F-0754-0070-662DB549D1F6}"/>
              </a:ext>
            </a:extLst>
          </p:cNvPr>
          <p:cNvSpPr txBox="1"/>
          <p:nvPr/>
        </p:nvSpPr>
        <p:spPr>
          <a:xfrm>
            <a:off x="562970" y="3482834"/>
            <a:ext cx="132588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400" b="1">
                <a:solidFill>
                  <a:srgbClr val="646767"/>
                </a:solidFill>
                <a:latin typeface="Aptos"/>
              </a:rPr>
              <a:t>Atkinson(2)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D4420F10-1DC7-4A5D-4056-67741E84CF48}"/>
              </a:ext>
            </a:extLst>
          </p:cNvPr>
          <p:cNvSpPr txBox="1"/>
          <p:nvPr/>
        </p:nvSpPr>
        <p:spPr>
          <a:xfrm>
            <a:off x="1843130" y="3482834"/>
            <a:ext cx="1965960" cy="252377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r>
              <a:rPr sz="1400" b="1">
                <a:solidFill>
                  <a:srgbClr val="2F353A"/>
                </a:solidFill>
                <a:latin typeface="Aptos"/>
              </a:rPr>
              <a:t>0.647 </a:t>
            </a:r>
            <a:r>
              <a:rPr lang="en-US" sz="1400" b="1">
                <a:solidFill>
                  <a:srgbClr val="2F353A"/>
                </a:solidFill>
                <a:latin typeface="Aptos"/>
              </a:rPr>
              <a:t>→</a:t>
            </a:r>
            <a:r>
              <a:rPr sz="1400" b="1">
                <a:solidFill>
                  <a:srgbClr val="2F353A"/>
                </a:solidFill>
                <a:latin typeface="Aptos"/>
              </a:rPr>
              <a:t> 0.431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0B392D31-749D-C91E-985E-111A3865CCF6}"/>
              </a:ext>
            </a:extLst>
          </p:cNvPr>
          <p:cNvSpPr txBox="1"/>
          <p:nvPr/>
        </p:nvSpPr>
        <p:spPr>
          <a:xfrm>
            <a:off x="3763370" y="3482834"/>
            <a:ext cx="82296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/>
            <a:r>
              <a:rPr sz="1300" b="1">
                <a:solidFill>
                  <a:srgbClr val="AD463E"/>
                </a:solidFill>
                <a:latin typeface="Aptos"/>
              </a:rPr>
              <a:t>-33.4%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971573A1-218D-A753-A446-6CDDA4F47554}"/>
              </a:ext>
            </a:extLst>
          </p:cNvPr>
          <p:cNvSpPr txBox="1"/>
          <p:nvPr/>
        </p:nvSpPr>
        <p:spPr>
          <a:xfrm>
            <a:off x="562970" y="4049762"/>
            <a:ext cx="132588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400" b="1">
                <a:solidFill>
                  <a:srgbClr val="646767"/>
                </a:solidFill>
                <a:latin typeface="Aptos"/>
              </a:rPr>
              <a:t>Poverty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F5A3DB66-C0C3-345D-C47C-0FA2B00A805A}"/>
              </a:ext>
            </a:extLst>
          </p:cNvPr>
          <p:cNvSpPr txBox="1"/>
          <p:nvPr/>
        </p:nvSpPr>
        <p:spPr>
          <a:xfrm>
            <a:off x="1843130" y="4049762"/>
            <a:ext cx="196596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400" b="1">
                <a:solidFill>
                  <a:srgbClr val="2F353A"/>
                </a:solidFill>
                <a:latin typeface="Aptos"/>
              </a:rPr>
              <a:t>essentially unchanged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F7772AB4-4215-70CA-7EA1-E052992A01CE}"/>
              </a:ext>
            </a:extLst>
          </p:cNvPr>
          <p:cNvSpPr txBox="1"/>
          <p:nvPr/>
        </p:nvSpPr>
        <p:spPr>
          <a:xfrm>
            <a:off x="3879378" y="4049762"/>
            <a:ext cx="82296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/>
            <a:r>
              <a:rPr sz="1300" b="1">
                <a:solidFill>
                  <a:srgbClr val="AD463E"/>
                </a:solidFill>
                <a:latin typeface="Aptos"/>
              </a:rPr>
              <a:t>upper tail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38FB441A-9893-2F18-7B87-F4850ECC2267}"/>
              </a:ext>
            </a:extLst>
          </p:cNvPr>
          <p:cNvSpPr txBox="1"/>
          <p:nvPr/>
        </p:nvSpPr>
        <p:spPr>
          <a:xfrm>
            <a:off x="562970" y="4799570"/>
            <a:ext cx="4220570" cy="102181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600" b="1">
                <a:solidFill>
                  <a:srgbClr val="1E3043"/>
                </a:solidFill>
                <a:latin typeface="Aptos"/>
              </a:rPr>
              <a:t>Interpretation: LIS top-coding materially reduces means and inequality, while poverty is protected because the capped records are far from the bottom of the distribution.</a:t>
            </a:r>
          </a:p>
        </p:txBody>
      </p:sp>
      <p:pic>
        <p:nvPicPr>
          <p:cNvPr id="29" name="Imagen 28">
            <a:extLst>
              <a:ext uri="{FF2B5EF4-FFF2-40B4-BE49-F238E27FC236}">
                <a16:creationId xmlns:a16="http://schemas.microsoft.com/office/drawing/2014/main" id="{74A4D0E5-A98C-D218-D812-C269CE3C73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9582" y="1433465"/>
            <a:ext cx="7181351" cy="4406020"/>
          </a:xfrm>
          <a:prstGeom prst="rect">
            <a:avLst/>
          </a:prstGeom>
        </p:spPr>
      </p:pic>
      <p:sp>
        <p:nvSpPr>
          <p:cNvPr id="74" name="Rectangle 73">
            <a:extLst>
              <a:ext uri="{FF2B5EF4-FFF2-40B4-BE49-F238E27FC236}">
                <a16:creationId xmlns:a16="http://schemas.microsoft.com/office/drawing/2014/main" id="{3614ADB6-D685-486B-63F4-C6F5F031AF70}"/>
              </a:ext>
            </a:extLst>
          </p:cNvPr>
          <p:cNvSpPr/>
          <p:nvPr/>
        </p:nvSpPr>
        <p:spPr>
          <a:xfrm>
            <a:off x="4986972" y="5204147"/>
            <a:ext cx="1995635" cy="247558"/>
          </a:xfrm>
          <a:prstGeom prst="rect">
            <a:avLst/>
          </a:prstGeom>
          <a:noFill/>
          <a:ln w="127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069848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2600" b="1">
                <a:solidFill>
                  <a:srgbClr val="1E3043"/>
                </a:solidFill>
                <a:latin typeface="Aptos Display"/>
              </a:rPr>
              <a:t>Treatment comparison</a:t>
            </a:r>
          </a:p>
        </p:txBody>
      </p:sp>
      <p:sp>
        <p:nvSpPr>
          <p:cNvPr id="3" name="Rectangle 2"/>
          <p:cNvSpPr/>
          <p:nvPr/>
        </p:nvSpPr>
        <p:spPr>
          <a:xfrm>
            <a:off x="219456" y="731520"/>
            <a:ext cx="1060704" cy="54864"/>
          </a:xfrm>
          <a:prstGeom prst="rect">
            <a:avLst/>
          </a:prstGeom>
          <a:solidFill>
            <a:srgbClr val="2F81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932688"/>
            <a:ext cx="10881360" cy="2154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sz="1500" b="0">
                <a:solidFill>
                  <a:srgbClr val="646767"/>
                </a:solidFill>
                <a:latin typeface="Aptos"/>
              </a:rPr>
              <a:t>The comparison now separates deletion from capping, using the two screening caps as the thresholds.</a:t>
            </a:r>
            <a:endParaRPr lang="es-ES" sz="1400" b="0">
              <a:solidFill>
                <a:srgbClr val="646767"/>
              </a:solidFill>
              <a:latin typeface="Aptos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75488" y="1444752"/>
          <a:ext cx="9509760" cy="43159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050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264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618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6187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16566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ptos"/>
                        </a:rPr>
                        <a:t>Approach</a:t>
                      </a:r>
                    </a:p>
                  </a:txBody>
                  <a:tcPr marL="73152" marR="73152" marT="36576" marB="36576" anchor="ctr">
                    <a:solidFill>
                      <a:srgbClr val="1E30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ptos"/>
                        </a:rPr>
                        <a:t>Mean</a:t>
                      </a:r>
                    </a:p>
                  </a:txBody>
                  <a:tcPr marL="73152" marR="73152" marT="36576" marB="36576" anchor="ctr">
                    <a:solidFill>
                      <a:srgbClr val="1E30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ptos"/>
                        </a:rPr>
                        <a:t>Gini</a:t>
                      </a:r>
                    </a:p>
                  </a:txBody>
                  <a:tcPr marL="73152" marR="73152" marT="36576" marB="36576" anchor="ctr">
                    <a:solidFill>
                      <a:srgbClr val="1E30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ptos"/>
                        </a:rPr>
                        <a:t>MLD</a:t>
                      </a:r>
                    </a:p>
                  </a:txBody>
                  <a:tcPr marL="73152" marR="73152" marT="36576" marB="36576" anchor="ctr">
                    <a:solidFill>
                      <a:srgbClr val="1E30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ptos"/>
                        </a:rPr>
                        <a:t>Atkinson(2)</a:t>
                      </a:r>
                    </a:p>
                  </a:txBody>
                  <a:tcPr marL="73152" marR="73152" marT="36576" marB="36576" anchor="ctr">
                    <a:solidFill>
                      <a:srgbClr val="1E30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6566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F353A"/>
                          </a:solidFill>
                          <a:latin typeface="Aptos"/>
                        </a:rPr>
                        <a:t>Unadjusted</a:t>
                      </a:r>
                    </a:p>
                  </a:txBody>
                  <a:tcPr marL="73152" marR="73152" marT="36576" marB="36576" anchor="ctr">
                    <a:solidFill>
                      <a:srgbClr val="F2F0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2F353A"/>
                          </a:solidFill>
                          <a:latin typeface="Aptos"/>
                        </a:rPr>
                        <a:t>5.78</a:t>
                      </a:r>
                      <a:r>
                        <a:rPr sz="1100">
                          <a:solidFill>
                            <a:srgbClr val="646767"/>
                          </a:solidFill>
                          <a:latin typeface="Aptos"/>
                        </a:rPr>
                        <a:t>  </a:t>
                      </a:r>
                    </a:p>
                  </a:txBody>
                  <a:tcPr marL="73152" marR="73152" marT="36576" marB="36576" anchor="ctr">
                    <a:solidFill>
                      <a:srgbClr val="F2F0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2F353A"/>
                          </a:solidFill>
                          <a:latin typeface="Aptos"/>
                        </a:rPr>
                        <a:t>0.66</a:t>
                      </a:r>
                      <a:r>
                        <a:rPr sz="1100">
                          <a:solidFill>
                            <a:srgbClr val="646767"/>
                          </a:solidFill>
                          <a:latin typeface="Aptos"/>
                        </a:rPr>
                        <a:t>  </a:t>
                      </a:r>
                    </a:p>
                  </a:txBody>
                  <a:tcPr marL="73152" marR="73152" marT="36576" marB="36576" anchor="ctr">
                    <a:solidFill>
                      <a:srgbClr val="F2F0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2F353A"/>
                          </a:solidFill>
                          <a:latin typeface="Aptos"/>
                        </a:rPr>
                        <a:t>0.81</a:t>
                      </a:r>
                      <a:r>
                        <a:rPr sz="1100">
                          <a:solidFill>
                            <a:srgbClr val="646767"/>
                          </a:solidFill>
                          <a:latin typeface="Aptos"/>
                        </a:rPr>
                        <a:t>  </a:t>
                      </a:r>
                    </a:p>
                  </a:txBody>
                  <a:tcPr marL="73152" marR="73152" marT="36576" marB="36576" anchor="ctr">
                    <a:solidFill>
                      <a:srgbClr val="F2F0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2F353A"/>
                          </a:solidFill>
                          <a:latin typeface="Aptos"/>
                        </a:rPr>
                        <a:t>0.65</a:t>
                      </a:r>
                      <a:r>
                        <a:rPr sz="1100">
                          <a:solidFill>
                            <a:srgbClr val="646767"/>
                          </a:solidFill>
                          <a:latin typeface="Aptos"/>
                        </a:rPr>
                        <a:t>  </a:t>
                      </a:r>
                    </a:p>
                  </a:txBody>
                  <a:tcPr marL="73152" marR="73152" marT="36576" marB="36576" anchor="ctr">
                    <a:solidFill>
                      <a:srgbClr val="F2F0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6566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F353A"/>
                          </a:solidFill>
                          <a:latin typeface="Aptos"/>
                        </a:rPr>
                        <a:t>Remove 2 highest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2F353A"/>
                          </a:solidFill>
                          <a:latin typeface="Aptos"/>
                        </a:rPr>
                        <a:t>3.80</a:t>
                      </a:r>
                      <a:r>
                        <a:rPr sz="1100">
                          <a:solidFill>
                            <a:srgbClr val="646767"/>
                          </a:solidFill>
                          <a:latin typeface="Aptos"/>
                        </a:rPr>
                        <a:t>  (-34.3%)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2F353A"/>
                          </a:solidFill>
                          <a:latin typeface="Aptos"/>
                        </a:rPr>
                        <a:t>0.48</a:t>
                      </a:r>
                      <a:r>
                        <a:rPr sz="1100">
                          <a:solidFill>
                            <a:srgbClr val="646767"/>
                          </a:solidFill>
                          <a:latin typeface="Aptos"/>
                        </a:rPr>
                        <a:t>  (-27.1%)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2F353A"/>
                          </a:solidFill>
                          <a:latin typeface="Aptos"/>
                        </a:rPr>
                        <a:t>0.39</a:t>
                      </a:r>
                      <a:r>
                        <a:rPr sz="1100">
                          <a:solidFill>
                            <a:srgbClr val="646767"/>
                          </a:solidFill>
                          <a:latin typeface="Aptos"/>
                        </a:rPr>
                        <a:t>  (-51.7%)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2F353A"/>
                          </a:solidFill>
                          <a:latin typeface="Aptos"/>
                        </a:rPr>
                        <a:t>0.46</a:t>
                      </a:r>
                      <a:r>
                        <a:rPr sz="1100">
                          <a:solidFill>
                            <a:srgbClr val="646767"/>
                          </a:solidFill>
                          <a:latin typeface="Aptos"/>
                        </a:rPr>
                        <a:t>  (-28.5%)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6566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F353A"/>
                          </a:solidFill>
                          <a:latin typeface="Aptos"/>
                        </a:rPr>
                        <a:t>Remove above LIS cap</a:t>
                      </a:r>
                    </a:p>
                  </a:txBody>
                  <a:tcPr marL="73152" marR="73152" marT="36576" marB="36576" anchor="ctr">
                    <a:solidFill>
                      <a:srgbClr val="F2F0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2F353A"/>
                          </a:solidFill>
                          <a:latin typeface="Aptos"/>
                        </a:rPr>
                        <a:t>3.39</a:t>
                      </a:r>
                      <a:r>
                        <a:rPr sz="1100">
                          <a:solidFill>
                            <a:srgbClr val="646767"/>
                          </a:solidFill>
                          <a:latin typeface="Aptos"/>
                        </a:rPr>
                        <a:t>  (-41.3%)</a:t>
                      </a:r>
                    </a:p>
                  </a:txBody>
                  <a:tcPr marL="73152" marR="73152" marT="36576" marB="36576" anchor="ctr">
                    <a:solidFill>
                      <a:srgbClr val="F2F0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2F353A"/>
                          </a:solidFill>
                          <a:latin typeface="Aptos"/>
                        </a:rPr>
                        <a:t>0.42</a:t>
                      </a:r>
                      <a:r>
                        <a:rPr sz="1100">
                          <a:solidFill>
                            <a:srgbClr val="646767"/>
                          </a:solidFill>
                          <a:latin typeface="Aptos"/>
                        </a:rPr>
                        <a:t>  (-36.1%)</a:t>
                      </a:r>
                    </a:p>
                  </a:txBody>
                  <a:tcPr marL="73152" marR="73152" marT="36576" marB="36576" anchor="ctr">
                    <a:solidFill>
                      <a:srgbClr val="F2F0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2F353A"/>
                          </a:solidFill>
                          <a:latin typeface="Aptos"/>
                        </a:rPr>
                        <a:t>0.29</a:t>
                      </a:r>
                      <a:r>
                        <a:rPr sz="1100">
                          <a:solidFill>
                            <a:srgbClr val="646767"/>
                          </a:solidFill>
                          <a:latin typeface="Aptos"/>
                        </a:rPr>
                        <a:t>  (-63.9%)</a:t>
                      </a:r>
                    </a:p>
                  </a:txBody>
                  <a:tcPr marL="73152" marR="73152" marT="36576" marB="36576" anchor="ctr">
                    <a:solidFill>
                      <a:srgbClr val="F2F0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2F353A"/>
                          </a:solidFill>
                          <a:latin typeface="Aptos"/>
                        </a:rPr>
                        <a:t>0.40</a:t>
                      </a:r>
                      <a:r>
                        <a:rPr sz="1100">
                          <a:solidFill>
                            <a:srgbClr val="646767"/>
                          </a:solidFill>
                          <a:latin typeface="Aptos"/>
                        </a:rPr>
                        <a:t>  (-38.1%)</a:t>
                      </a:r>
                    </a:p>
                  </a:txBody>
                  <a:tcPr marL="73152" marR="73152" marT="36576" marB="36576" anchor="ctr">
                    <a:solidFill>
                      <a:srgbClr val="F2F0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6566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F353A"/>
                          </a:solidFill>
                          <a:latin typeface="Aptos"/>
                        </a:rPr>
                        <a:t>Remove above </a:t>
                      </a:r>
                      <a:r>
                        <a:rPr sz="1100" b="1" err="1">
                          <a:solidFill>
                            <a:srgbClr val="2F353A"/>
                          </a:solidFill>
                          <a:latin typeface="Aptos"/>
                        </a:rPr>
                        <a:t>outdetect</a:t>
                      </a:r>
                      <a:r>
                        <a:rPr sz="1100" b="1">
                          <a:solidFill>
                            <a:srgbClr val="2F353A"/>
                          </a:solidFill>
                          <a:latin typeface="Aptos"/>
                        </a:rPr>
                        <a:t> cap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2F353A"/>
                          </a:solidFill>
                          <a:latin typeface="Aptos"/>
                        </a:rPr>
                        <a:t>3.12</a:t>
                      </a:r>
                      <a:r>
                        <a:rPr sz="1100">
                          <a:solidFill>
                            <a:srgbClr val="646767"/>
                          </a:solidFill>
                          <a:latin typeface="Aptos"/>
                        </a:rPr>
                        <a:t>  (-46.1%)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2F353A"/>
                          </a:solidFill>
                          <a:latin typeface="Aptos"/>
                        </a:rPr>
                        <a:t>0.38</a:t>
                      </a:r>
                      <a:r>
                        <a:rPr sz="1100">
                          <a:solidFill>
                            <a:srgbClr val="646767"/>
                          </a:solidFill>
                          <a:latin typeface="Aptos"/>
                        </a:rPr>
                        <a:t>  (-42.5%)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2F353A"/>
                          </a:solidFill>
                          <a:latin typeface="Aptos"/>
                        </a:rPr>
                        <a:t>0.24</a:t>
                      </a:r>
                      <a:r>
                        <a:rPr sz="1100">
                          <a:solidFill>
                            <a:srgbClr val="646767"/>
                          </a:solidFill>
                          <a:latin typeface="Aptos"/>
                        </a:rPr>
                        <a:t>  (-71.0%)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2F353A"/>
                          </a:solidFill>
                          <a:latin typeface="Aptos"/>
                        </a:rPr>
                        <a:t>0.35</a:t>
                      </a:r>
                      <a:r>
                        <a:rPr sz="1100">
                          <a:solidFill>
                            <a:srgbClr val="646767"/>
                          </a:solidFill>
                          <a:latin typeface="Aptos"/>
                        </a:rPr>
                        <a:t>  (-45.2%)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16566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F353A"/>
                          </a:solidFill>
                          <a:latin typeface="Aptos"/>
                        </a:rPr>
                        <a:t>Cap at LIS cap</a:t>
                      </a:r>
                    </a:p>
                  </a:txBody>
                  <a:tcPr marL="73152" marR="73152" marT="36576" marB="36576" anchor="ctr">
                    <a:solidFill>
                      <a:srgbClr val="F2F0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2F353A"/>
                          </a:solidFill>
                          <a:latin typeface="Aptos"/>
                        </a:rPr>
                        <a:t>3.59</a:t>
                      </a:r>
                      <a:r>
                        <a:rPr sz="1100">
                          <a:solidFill>
                            <a:srgbClr val="646767"/>
                          </a:solidFill>
                          <a:latin typeface="Aptos"/>
                        </a:rPr>
                        <a:t>  (-37.9%)</a:t>
                      </a:r>
                    </a:p>
                  </a:txBody>
                  <a:tcPr marL="73152" marR="73152" marT="36576" marB="36576" anchor="ctr">
                    <a:solidFill>
                      <a:srgbClr val="F2F0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2F353A"/>
                          </a:solidFill>
                          <a:latin typeface="Aptos"/>
                        </a:rPr>
                        <a:t>0.45</a:t>
                      </a:r>
                      <a:r>
                        <a:rPr sz="1100">
                          <a:solidFill>
                            <a:srgbClr val="646767"/>
                          </a:solidFill>
                          <a:latin typeface="Aptos"/>
                        </a:rPr>
                        <a:t>  (-31.8%)</a:t>
                      </a:r>
                    </a:p>
                  </a:txBody>
                  <a:tcPr marL="73152" marR="73152" marT="36576" marB="36576" anchor="ctr">
                    <a:solidFill>
                      <a:srgbClr val="F2F0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2F353A"/>
                          </a:solidFill>
                          <a:latin typeface="Aptos"/>
                        </a:rPr>
                        <a:t>0.34</a:t>
                      </a:r>
                      <a:r>
                        <a:rPr sz="1100">
                          <a:solidFill>
                            <a:srgbClr val="646767"/>
                          </a:solidFill>
                          <a:latin typeface="Aptos"/>
                        </a:rPr>
                        <a:t>  (-58.5%)</a:t>
                      </a:r>
                    </a:p>
                  </a:txBody>
                  <a:tcPr marL="73152" marR="73152" marT="36576" marB="36576" anchor="ctr">
                    <a:solidFill>
                      <a:srgbClr val="F2F0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2F353A"/>
                          </a:solidFill>
                          <a:latin typeface="Aptos"/>
                        </a:rPr>
                        <a:t>0.43</a:t>
                      </a:r>
                      <a:r>
                        <a:rPr sz="1100">
                          <a:solidFill>
                            <a:srgbClr val="646767"/>
                          </a:solidFill>
                          <a:latin typeface="Aptos"/>
                        </a:rPr>
                        <a:t>  (-33.4%)</a:t>
                      </a:r>
                    </a:p>
                  </a:txBody>
                  <a:tcPr marL="73152" marR="73152" marT="36576" marB="36576" anchor="ctr">
                    <a:solidFill>
                      <a:srgbClr val="F2F0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16572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F353A"/>
                          </a:solidFill>
                          <a:latin typeface="Aptos"/>
                        </a:rPr>
                        <a:t>Cap at </a:t>
                      </a:r>
                      <a:r>
                        <a:rPr sz="1100" b="1" err="1">
                          <a:solidFill>
                            <a:srgbClr val="2F353A"/>
                          </a:solidFill>
                          <a:latin typeface="Aptos"/>
                        </a:rPr>
                        <a:t>outdetect</a:t>
                      </a:r>
                      <a:r>
                        <a:rPr sz="1100" b="1">
                          <a:solidFill>
                            <a:srgbClr val="2F353A"/>
                          </a:solidFill>
                          <a:latin typeface="Aptos"/>
                        </a:rPr>
                        <a:t> cap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2F353A"/>
                          </a:solidFill>
                          <a:latin typeface="Aptos"/>
                        </a:rPr>
                        <a:t>3.37</a:t>
                      </a:r>
                      <a:r>
                        <a:rPr sz="1100">
                          <a:solidFill>
                            <a:srgbClr val="646767"/>
                          </a:solidFill>
                          <a:latin typeface="Aptos"/>
                        </a:rPr>
                        <a:t>  (-41.6%)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2F353A"/>
                          </a:solidFill>
                          <a:latin typeface="Aptos"/>
                        </a:rPr>
                        <a:t>0.41</a:t>
                      </a:r>
                      <a:r>
                        <a:rPr sz="1100">
                          <a:solidFill>
                            <a:srgbClr val="646767"/>
                          </a:solidFill>
                          <a:latin typeface="Aptos"/>
                        </a:rPr>
                        <a:t>  (-37.1%)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2F353A"/>
                          </a:solidFill>
                          <a:latin typeface="Aptos"/>
                        </a:rPr>
                        <a:t>0.28</a:t>
                      </a:r>
                      <a:r>
                        <a:rPr sz="1100">
                          <a:solidFill>
                            <a:srgbClr val="646767"/>
                          </a:solidFill>
                          <a:latin typeface="Aptos"/>
                        </a:rPr>
                        <a:t>  (-65.2%)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2F353A"/>
                          </a:solidFill>
                          <a:latin typeface="Aptos"/>
                        </a:rPr>
                        <a:t>0.39</a:t>
                      </a:r>
                      <a:r>
                        <a:rPr sz="1100">
                          <a:solidFill>
                            <a:srgbClr val="646767"/>
                          </a:solidFill>
                          <a:latin typeface="Aptos"/>
                        </a:rPr>
                        <a:t>  (-38.9%)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12064" y="5727144"/>
            <a:ext cx="1051560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300" b="0">
                <a:solidFill>
                  <a:srgbClr val="646767"/>
                </a:solidFill>
                <a:latin typeface="Aptos"/>
              </a:rPr>
              <a:t>Values are levels; percentages in parentheses show the change relative to the unadjusted scenario.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2064" y="5910024"/>
            <a:ext cx="9568710" cy="40011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300" b="0">
                <a:solidFill>
                  <a:srgbClr val="646767"/>
                </a:solidFill>
                <a:latin typeface="Aptos"/>
              </a:rPr>
              <a:t>Remove = drop observations above the stated rule; Cap = retain all observations but replace values above the stated cap with the cap. </a:t>
            </a:r>
            <a:endParaRPr lang="en-US" sz="1300" b="0">
              <a:solidFill>
                <a:srgbClr val="646767"/>
              </a:solidFill>
              <a:latin typeface="Aptos"/>
            </a:endParaRPr>
          </a:p>
          <a:p>
            <a:r>
              <a:rPr sz="1300" b="0">
                <a:solidFill>
                  <a:srgbClr val="646767"/>
                </a:solidFill>
                <a:latin typeface="Aptos"/>
              </a:rPr>
              <a:t>LIS cap = 48.57 PPP/day; </a:t>
            </a:r>
            <a:r>
              <a:rPr sz="1300" b="0" err="1">
                <a:solidFill>
                  <a:srgbClr val="646767"/>
                </a:solidFill>
                <a:latin typeface="Aptos"/>
              </a:rPr>
              <a:t>outdetect</a:t>
            </a:r>
            <a:r>
              <a:rPr sz="1300" b="0">
                <a:solidFill>
                  <a:srgbClr val="646767"/>
                </a:solidFill>
                <a:latin typeface="Aptos"/>
              </a:rPr>
              <a:t> cap = 20.22 PPP/day.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" y="1276148"/>
            <a:ext cx="1014984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 b="1">
                <a:solidFill>
                  <a:srgbClr val="1E3043"/>
                </a:solidFill>
                <a:latin typeface="Aptos"/>
              </a:rPr>
              <a:t>All figures in this Malawi deep dive come from country/MWI_1997.dta; the GMD file is used separately for the global screening comparison.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10528"/>
            <a:ext cx="6400800" cy="10972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 b="0">
                <a:solidFill>
                  <a:srgbClr val="646767"/>
                </a:solidFill>
                <a:latin typeface="Aptos"/>
              </a:rPr>
              <a:t>Top-censoring analysis | Malawi 1997 deep dive</a:t>
            </a:r>
          </a:p>
        </p:txBody>
      </p:sp>
      <p:sp>
        <p:nvSpPr>
          <p:cNvPr id="12" name="TextBox 4">
            <a:extLst>
              <a:ext uri="{FF2B5EF4-FFF2-40B4-BE49-F238E27FC236}">
                <a16:creationId xmlns:a16="http://schemas.microsoft.com/office/drawing/2014/main" id="{FB47A5A2-854B-E229-08F7-F4244E0AF6AA}"/>
              </a:ext>
            </a:extLst>
          </p:cNvPr>
          <p:cNvSpPr txBox="1"/>
          <p:nvPr/>
        </p:nvSpPr>
        <p:spPr>
          <a:xfrm>
            <a:off x="11475720" y="347472"/>
            <a:ext cx="502920" cy="221599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/>
            <a:r>
              <a:rPr lang="es-ES" sz="1200" b="1">
                <a:solidFill>
                  <a:srgbClr val="2F8177"/>
                </a:solidFill>
                <a:latin typeface="Aptos"/>
              </a:rPr>
              <a:t>07</a:t>
            </a:r>
            <a:endParaRPr sz="1200" b="1">
              <a:solidFill>
                <a:srgbClr val="2F8177"/>
              </a:solidFill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27004784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0698480" cy="42165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2600" b="1">
                <a:solidFill>
                  <a:srgbClr val="1E3043"/>
                </a:solidFill>
                <a:latin typeface="Aptos Display"/>
              </a:rPr>
              <a:t>Pareto diagnostic: is the upper tail regular?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32104"/>
            <a:ext cx="1005840" cy="54864"/>
          </a:xfrm>
          <a:prstGeom prst="rect">
            <a:avLst/>
          </a:prstGeom>
          <a:solidFill>
            <a:srgbClr val="2F81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932688"/>
            <a:ext cx="10881360" cy="252377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500" b="0">
                <a:solidFill>
                  <a:srgbClr val="646767"/>
                </a:solidFill>
                <a:latin typeface="Aptos"/>
              </a:rPr>
              <a:t>The fitted tail describes much of the upper distribution, but the largest observations sit well above it.</a:t>
            </a:r>
            <a:endParaRPr lang="es-ES" sz="1400" b="0">
              <a:solidFill>
                <a:srgbClr val="646767"/>
              </a:solidFill>
              <a:latin typeface="Apto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475720" y="347472"/>
            <a:ext cx="502920" cy="3200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/>
            <a:r>
              <a:rPr sz="1200" b="1">
                <a:solidFill>
                  <a:srgbClr val="2F8177"/>
                </a:solidFill>
                <a:latin typeface="Aptos"/>
              </a:rPr>
              <a:t>08</a:t>
            </a:r>
          </a:p>
        </p:txBody>
      </p:sp>
      <p:pic>
        <p:nvPicPr>
          <p:cNvPr id="6" name="Picture 5" descr="mwi_1997_pareto_without_tw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325880"/>
            <a:ext cx="6583680" cy="32918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589520" y="1508760"/>
            <a:ext cx="3657600" cy="3200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2100" b="1">
                <a:solidFill>
                  <a:srgbClr val="1E3043"/>
                </a:solidFill>
                <a:latin typeface="Aptos Display"/>
              </a:rPr>
              <a:t>What Pareto contributes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0" y="2103120"/>
            <a:ext cx="3657600" cy="43891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500" b="0">
                <a:solidFill>
                  <a:srgbClr val="2F353A"/>
                </a:solidFill>
                <a:latin typeface="Aptos"/>
              </a:rPr>
              <a:t>•  Models the upper tail only, rather than imposing a Pareto law on the full distribution.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0" y="2880360"/>
            <a:ext cx="3657600" cy="43891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500" b="0">
                <a:solidFill>
                  <a:srgbClr val="2F353A"/>
                </a:solidFill>
                <a:latin typeface="Aptos"/>
              </a:rPr>
              <a:t>•  Provides a visual and quantitative benchmark for unusually large values.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0" y="3657600"/>
            <a:ext cx="3657600" cy="43891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500" b="0">
                <a:solidFill>
                  <a:srgbClr val="2F353A"/>
                </a:solidFill>
                <a:latin typeface="Aptos"/>
              </a:rPr>
              <a:t>•  The two largest records are much more extreme than the fitted tail predicts.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0" y="4892040"/>
            <a:ext cx="3657600" cy="590931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800" b="1">
                <a:solidFill>
                  <a:srgbClr val="AD463E"/>
                </a:solidFill>
                <a:latin typeface="Aptos"/>
              </a:rPr>
              <a:t>Conclusion: strong evidence of tail influence</a:t>
            </a:r>
            <a:r>
              <a:rPr lang="en-US" sz="1800" b="1">
                <a:solidFill>
                  <a:srgbClr val="AD463E"/>
                </a:solidFill>
                <a:latin typeface="Aptos"/>
              </a:rPr>
              <a:t>.</a:t>
            </a:r>
            <a:endParaRPr sz="1800" b="1">
              <a:solidFill>
                <a:srgbClr val="AD463E"/>
              </a:solidFill>
              <a:latin typeface="Apto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02920" y="6510528"/>
            <a:ext cx="6400800" cy="16459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900" b="0">
                <a:solidFill>
                  <a:srgbClr val="646767"/>
                </a:solidFill>
                <a:latin typeface="Aptos"/>
              </a:rPr>
              <a:t>Top-censoring analysis | Malawi 1997 deep dive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0698480" cy="42165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2600" b="1">
                <a:solidFill>
                  <a:srgbClr val="1E3043"/>
                </a:solidFill>
                <a:latin typeface="Aptos Display"/>
              </a:rPr>
              <a:t>GB2 diagnostic: a flexible full-distribution benchmark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32104"/>
            <a:ext cx="1005840" cy="54864"/>
          </a:xfrm>
          <a:prstGeom prst="rect">
            <a:avLst/>
          </a:prstGeom>
          <a:solidFill>
            <a:srgbClr val="2F81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932688"/>
            <a:ext cx="10881360" cy="252377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500" b="0">
                <a:solidFill>
                  <a:srgbClr val="646767"/>
                </a:solidFill>
                <a:latin typeface="Aptos"/>
              </a:rPr>
              <a:t>The fitted distribution changes when extreme observations are removed.</a:t>
            </a:r>
            <a:endParaRPr lang="es-ES" sz="1400" b="0">
              <a:solidFill>
                <a:srgbClr val="646767"/>
              </a:solidFill>
              <a:latin typeface="Apto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475720" y="347472"/>
            <a:ext cx="502920" cy="3200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/>
            <a:r>
              <a:rPr sz="1200" b="1">
                <a:solidFill>
                  <a:srgbClr val="2F8177"/>
                </a:solidFill>
                <a:latin typeface="Aptos"/>
              </a:rPr>
              <a:t>09</a:t>
            </a:r>
          </a:p>
        </p:txBody>
      </p:sp>
      <p:pic>
        <p:nvPicPr>
          <p:cNvPr id="6" name="Picture 5" descr="gb2_observed_vs_fitted_ta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280160"/>
            <a:ext cx="6766560" cy="45110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635240" y="1508760"/>
            <a:ext cx="3657600" cy="3200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2100" b="1">
                <a:solidFill>
                  <a:srgbClr val="1E3043"/>
                </a:solidFill>
                <a:latin typeface="Aptos Display"/>
              </a:rPr>
              <a:t>Weighted maximum likelihood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2103120"/>
            <a:ext cx="3566160" cy="43891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500" b="0">
                <a:solidFill>
                  <a:srgbClr val="2F353A"/>
                </a:solidFill>
                <a:latin typeface="Aptos"/>
              </a:rPr>
              <a:t>•  GB2 fitted to all positive Malawi 1997 welfare values.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35240" y="2788920"/>
            <a:ext cx="3566160" cy="43891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500" b="0">
                <a:solidFill>
                  <a:srgbClr val="2F353A"/>
                </a:solidFill>
                <a:latin typeface="Aptos"/>
              </a:rPr>
              <a:t>•  Additional fits exclude the largest 1, 2, 5, 10 and 20 records.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35240" y="3474720"/>
            <a:ext cx="3566160" cy="43891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500" b="0">
                <a:solidFill>
                  <a:srgbClr val="2F353A"/>
                </a:solidFill>
                <a:latin typeface="Aptos"/>
              </a:rPr>
              <a:t>•  The second-largest observation has an empirical survival probability about 166 times larger than the full-sample GB2 prediction.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35240" y="4800600"/>
            <a:ext cx="3566160" cy="1268039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600" b="1">
                <a:solidFill>
                  <a:srgbClr val="AD463E"/>
                </a:solidFill>
                <a:latin typeface="Aptos"/>
              </a:rPr>
              <a:t>Diagnostic interpretation: the observations are unusually extreme relative to a smooth GB2 </a:t>
            </a:r>
            <a:r>
              <a:rPr lang="en-US" sz="1600" b="1">
                <a:solidFill>
                  <a:srgbClr val="AD463E"/>
                </a:solidFill>
                <a:latin typeface="Aptos"/>
              </a:rPr>
              <a:t>tail but</a:t>
            </a:r>
            <a:r>
              <a:rPr sz="1600" b="1">
                <a:solidFill>
                  <a:srgbClr val="AD463E"/>
                </a:solidFill>
                <a:latin typeface="Aptos"/>
              </a:rPr>
              <a:t> may still reflect genuine heterogeneity or measurement issues.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510528"/>
            <a:ext cx="6400800" cy="16459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900" b="0">
                <a:solidFill>
                  <a:srgbClr val="646767"/>
                </a:solidFill>
                <a:latin typeface="Aptos"/>
              </a:rPr>
              <a:t>Top-censoring analysis | Malawi 1997 deep dive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0698480" cy="375487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r>
              <a:rPr lang="es-ES" sz="2600" b="1" err="1">
                <a:solidFill>
                  <a:srgbClr val="1E3043"/>
                </a:solidFill>
                <a:latin typeface="Aptos Display"/>
              </a:rPr>
              <a:t>Regression</a:t>
            </a:r>
            <a:r>
              <a:rPr lang="es-ES" sz="2600" b="1">
                <a:solidFill>
                  <a:srgbClr val="1E3043"/>
                </a:solidFill>
                <a:latin typeface="Aptos Display"/>
              </a:rPr>
              <a:t> </a:t>
            </a:r>
            <a:r>
              <a:rPr lang="es-ES" sz="2600" b="1" err="1">
                <a:solidFill>
                  <a:srgbClr val="1E3043"/>
                </a:solidFill>
                <a:latin typeface="Aptos Display"/>
              </a:rPr>
              <a:t>diagnostic</a:t>
            </a:r>
            <a:r>
              <a:rPr lang="es-ES" sz="2600" b="1">
                <a:solidFill>
                  <a:srgbClr val="1E3043"/>
                </a:solidFill>
                <a:latin typeface="Aptos Display"/>
              </a:rPr>
              <a:t>: can </a:t>
            </a:r>
            <a:r>
              <a:rPr lang="es-ES" sz="2600" b="1" err="1">
                <a:solidFill>
                  <a:srgbClr val="1E3043"/>
                </a:solidFill>
                <a:latin typeface="Aptos Display"/>
              </a:rPr>
              <a:t>characteristics</a:t>
            </a:r>
            <a:r>
              <a:rPr lang="es-ES" sz="2600" b="1">
                <a:solidFill>
                  <a:srgbClr val="1E3043"/>
                </a:solidFill>
                <a:latin typeface="Aptos Display"/>
              </a:rPr>
              <a:t> </a:t>
            </a:r>
            <a:r>
              <a:rPr lang="es-ES" sz="2600" b="1" err="1">
                <a:solidFill>
                  <a:srgbClr val="1E3043"/>
                </a:solidFill>
                <a:latin typeface="Aptos Display"/>
              </a:rPr>
              <a:t>explain</a:t>
            </a:r>
            <a:r>
              <a:rPr lang="es-ES" sz="2600" b="1">
                <a:solidFill>
                  <a:srgbClr val="1E3043"/>
                </a:solidFill>
                <a:latin typeface="Aptos Display"/>
              </a:rPr>
              <a:t> </a:t>
            </a:r>
            <a:r>
              <a:rPr lang="es-ES" sz="2600" b="1" err="1">
                <a:solidFill>
                  <a:srgbClr val="1E3043"/>
                </a:solidFill>
                <a:latin typeface="Aptos Display"/>
              </a:rPr>
              <a:t>the</a:t>
            </a:r>
            <a:r>
              <a:rPr lang="es-ES" sz="2600" b="1">
                <a:solidFill>
                  <a:srgbClr val="1E3043"/>
                </a:solidFill>
                <a:latin typeface="Aptos Display"/>
              </a:rPr>
              <a:t> extremes?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32104"/>
            <a:ext cx="1005840" cy="54864"/>
          </a:xfrm>
          <a:prstGeom prst="rect">
            <a:avLst/>
          </a:prstGeom>
          <a:solidFill>
            <a:srgbClr val="2F81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932688"/>
            <a:ext cx="10881360" cy="252377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500" b="0">
                <a:solidFill>
                  <a:srgbClr val="646767"/>
                </a:solidFill>
                <a:latin typeface="Aptos"/>
              </a:rPr>
              <a:t>Cross-fitted predictions compare reported welfare with welfare expected from available household characteristics.</a:t>
            </a:r>
            <a:endParaRPr lang="es-ES" sz="1400" b="0">
              <a:solidFill>
                <a:srgbClr val="646767"/>
              </a:solidFill>
              <a:latin typeface="Apto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475720" y="347472"/>
            <a:ext cx="502920" cy="3200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/>
            <a:r>
              <a:rPr sz="1200" b="1">
                <a:solidFill>
                  <a:srgbClr val="2F8177"/>
                </a:solidFill>
                <a:latin typeface="Aptos"/>
              </a:rPr>
              <a:t>10</a:t>
            </a:r>
          </a:p>
        </p:txBody>
      </p:sp>
      <p:pic>
        <p:nvPicPr>
          <p:cNvPr id="6" name="Picture 5" descr="regression_observed_vs_predic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325880"/>
            <a:ext cx="6537960" cy="490347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635240" y="1508760"/>
            <a:ext cx="3474720" cy="29260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2100" b="1">
                <a:solidFill>
                  <a:srgbClr val="1E3043"/>
                </a:solidFill>
                <a:latin typeface="Aptos Display"/>
              </a:rPr>
              <a:t>Model used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2057400"/>
            <a:ext cx="3566160" cy="7315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600" b="1">
                <a:solidFill>
                  <a:srgbClr val="2F353A"/>
                </a:solidFill>
                <a:latin typeface="Aptos"/>
              </a:rPr>
              <a:t>log(welfare) = urban + log(1 + household size) + subnational area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35240" y="3063240"/>
            <a:ext cx="3566160" cy="43891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500" b="0">
                <a:solidFill>
                  <a:srgbClr val="2F353A"/>
                </a:solidFill>
                <a:latin typeface="Aptos"/>
              </a:rPr>
              <a:t>•  Five-fold cross-fitting avoids comparing households with predictions from models trained on the same record.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35240" y="3840480"/>
            <a:ext cx="3566160" cy="43891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500" b="0">
                <a:solidFill>
                  <a:srgbClr val="2F353A"/>
                </a:solidFill>
                <a:latin typeface="Aptos"/>
              </a:rPr>
              <a:t>•  Weighted cross-fitted R2: 0.389.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35240" y="4434840"/>
            <a:ext cx="3566160" cy="49859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500" b="0">
                <a:solidFill>
                  <a:srgbClr val="2F353A"/>
                </a:solidFill>
                <a:latin typeface="Aptos"/>
              </a:rPr>
              <a:t>•  </a:t>
            </a:r>
            <a:r>
              <a:rPr lang="es-ES" sz="1500" b="0">
                <a:solidFill>
                  <a:srgbClr val="2F353A"/>
                </a:solidFill>
                <a:latin typeface="Aptos"/>
              </a:rPr>
              <a:t>111 </a:t>
            </a:r>
            <a:r>
              <a:rPr sz="1500" b="0">
                <a:solidFill>
                  <a:srgbClr val="2F353A"/>
                </a:solidFill>
                <a:latin typeface="Aptos"/>
              </a:rPr>
              <a:t>households flagged, representing about </a:t>
            </a:r>
            <a:r>
              <a:rPr lang="es-ES" sz="1500" b="0">
                <a:solidFill>
                  <a:srgbClr val="2F353A"/>
                </a:solidFill>
                <a:latin typeface="Aptos"/>
              </a:rPr>
              <a:t>1.0</a:t>
            </a:r>
            <a:r>
              <a:rPr sz="1500" b="0">
                <a:solidFill>
                  <a:srgbClr val="2F353A"/>
                </a:solidFill>
                <a:latin typeface="Aptos"/>
              </a:rPr>
              <a:t>% of sample weight.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35240" y="5257800"/>
            <a:ext cx="3566160" cy="59436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500" b="1">
                <a:solidFill>
                  <a:srgbClr val="AD463E"/>
                </a:solidFill>
                <a:latin typeface="Aptos"/>
              </a:rPr>
              <a:t>A regression flag identifies an unusual conditional observation; it does not establish that the welfare report is erroneous.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510528"/>
            <a:ext cx="6400800" cy="16459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900" b="0">
                <a:solidFill>
                  <a:srgbClr val="646767"/>
                </a:solidFill>
                <a:latin typeface="Aptos"/>
              </a:rPr>
              <a:t>Top-censoring analysis | Malawi 1997 deep dive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0698480" cy="42062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2600" b="1">
                <a:solidFill>
                  <a:srgbClr val="1E3043"/>
                </a:solidFill>
                <a:latin typeface="Aptos Display"/>
              </a:rPr>
              <a:t>Top five observed welfare values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32104"/>
            <a:ext cx="1005840" cy="54864"/>
          </a:xfrm>
          <a:prstGeom prst="rect">
            <a:avLst/>
          </a:prstGeom>
          <a:solidFill>
            <a:srgbClr val="2F81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932688"/>
            <a:ext cx="7662547" cy="2154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sz="1500" b="0">
                <a:solidFill>
                  <a:srgbClr val="646767"/>
                </a:solidFill>
                <a:latin typeface="Aptos"/>
              </a:rPr>
              <a:t>The largest reported values are compared with cross-fitted fitted welfare from the regression model.</a:t>
            </a:r>
            <a:endParaRPr lang="es-ES" sz="1400" b="0">
              <a:solidFill>
                <a:srgbClr val="646767"/>
              </a:solidFill>
              <a:latin typeface="Apto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475720" y="347472"/>
            <a:ext cx="50292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200" b="1">
                <a:solidFill>
                  <a:srgbClr val="2F8177"/>
                </a:solidFill>
                <a:latin typeface="Aptos"/>
              </a:rPr>
              <a:t>11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508760"/>
          <a:ext cx="8739107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2295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88110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55626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ptos"/>
                        </a:rPr>
                        <a:t>Rank</a:t>
                      </a:r>
                    </a:p>
                  </a:txBody>
                  <a:tcPr marL="73152" marR="73152" marT="36576" marB="36576" anchor="ctr">
                    <a:solidFill>
                      <a:srgbClr val="2F817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ptos"/>
                        </a:rPr>
                        <a:t>Observed welfare</a:t>
                      </a:r>
                    </a:p>
                    <a:p>
                      <a:pPr algn="ctr"/>
                      <a:r>
                        <a:rPr sz="1100">
                          <a:solidFill/>
                        </a:rPr>
                        <a:t>(PPP/day)</a:t>
                      </a:r>
                    </a:p>
                  </a:txBody>
                  <a:tcPr marL="73152" marR="73152" marT="36576" marB="36576" anchor="ctr">
                    <a:solidFill>
                      <a:srgbClr val="2F817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ptos"/>
                        </a:rPr>
                        <a:t>Fitted welfare</a:t>
                      </a:r>
                    </a:p>
                    <a:p>
                      <a:pPr algn="ctr"/>
                      <a:r>
                        <a:rPr sz="1100">
                          <a:solidFill/>
                        </a:rPr>
                        <a:t>(PPP/day)</a:t>
                      </a:r>
                    </a:p>
                  </a:txBody>
                  <a:tcPr marL="73152" marR="73152" marT="36576" marB="36576" anchor="ctr">
                    <a:solidFill>
                      <a:srgbClr val="2F817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ptos"/>
                        </a:rPr>
                        <a:t>Share of</a:t>
                      </a:r>
                    </a:p>
                    <a:p>
                      <a:pPr algn="ctr"/>
                      <a:r>
                        <a:rPr sz="1100">
                          <a:solidFill/>
                        </a:rPr>
                        <a:t>weights</a:t>
                      </a:r>
                    </a:p>
                  </a:txBody>
                  <a:tcPr marL="73152" marR="73152" marT="36576" marB="36576" anchor="ctr">
                    <a:solidFill>
                      <a:srgbClr val="2F817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ptos"/>
                        </a:rPr>
                        <a:t>Urban</a:t>
                      </a:r>
                    </a:p>
                  </a:txBody>
                  <a:tcPr marL="73152" marR="73152" marT="36576" marB="36576" anchor="ctr">
                    <a:solidFill>
                      <a:srgbClr val="2F817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ptos"/>
                        </a:rPr>
                        <a:t>HH size</a:t>
                      </a:r>
                    </a:p>
                  </a:txBody>
                  <a:tcPr marL="73152" marR="73152" marT="36576" marB="36576" anchor="ctr">
                    <a:solidFill>
                      <a:srgbClr val="2F817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ptos"/>
                        </a:rPr>
                        <a:t>Subnational area</a:t>
                      </a:r>
                    </a:p>
                  </a:txBody>
                  <a:tcPr marL="73152" marR="73152" marT="36576" marB="36576" anchor="ctr">
                    <a:solidFill>
                      <a:srgbClr val="2F817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626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F353A"/>
                          </a:solidFill>
                          <a:latin typeface="Aptos"/>
                        </a:rPr>
                        <a:t>1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F353A"/>
                          </a:solidFill>
                          <a:latin typeface="Aptos"/>
                        </a:rPr>
                        <a:t>53,436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F353A"/>
                          </a:solidFill>
                          <a:latin typeface="Aptos"/>
                        </a:rPr>
                        <a:t>3.30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F353A"/>
                          </a:solidFill>
                          <a:latin typeface="Aptos"/>
                        </a:rPr>
                        <a:t>0.003%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F353A"/>
                          </a:solidFill>
                          <a:latin typeface="Aptos"/>
                        </a:rPr>
                        <a:t>Rural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F353A"/>
                          </a:solidFill>
                          <a:latin typeface="Aptos"/>
                        </a:rPr>
                        <a:t>2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F353A"/>
                          </a:solidFill>
                          <a:latin typeface="Aptos"/>
                        </a:rPr>
                        <a:t>225 – </a:t>
                      </a:r>
                      <a:r>
                        <a:rPr sz="1200" b="0" err="1">
                          <a:solidFill>
                            <a:srgbClr val="2F353A"/>
                          </a:solidFill>
                          <a:latin typeface="Aptos"/>
                        </a:rPr>
                        <a:t>Mchinji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626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F353A"/>
                          </a:solidFill>
                          <a:latin typeface="Aptos"/>
                        </a:rPr>
                        <a:t>2</a:t>
                      </a:r>
                    </a:p>
                  </a:txBody>
                  <a:tcPr marL="73152" marR="73152" marT="36576" marB="36576" anchor="ctr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F353A"/>
                          </a:solidFill>
                          <a:latin typeface="Aptos"/>
                        </a:rPr>
                        <a:t>12,186</a:t>
                      </a:r>
                    </a:p>
                  </a:txBody>
                  <a:tcPr marL="73152" marR="73152" marT="36576" marB="36576" anchor="ctr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F353A"/>
                          </a:solidFill>
                          <a:latin typeface="Aptos"/>
                        </a:rPr>
                        <a:t>6.38</a:t>
                      </a:r>
                    </a:p>
                  </a:txBody>
                  <a:tcPr marL="73152" marR="73152" marT="36576" marB="36576" anchor="ctr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F353A"/>
                          </a:solidFill>
                          <a:latin typeface="Aptos"/>
                        </a:rPr>
                        <a:t>0.002%</a:t>
                      </a:r>
                    </a:p>
                  </a:txBody>
                  <a:tcPr marL="73152" marR="73152" marT="36576" marB="36576" anchor="ctr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F353A"/>
                          </a:solidFill>
                          <a:latin typeface="Aptos"/>
                        </a:rPr>
                        <a:t>Rural</a:t>
                      </a:r>
                    </a:p>
                  </a:txBody>
                  <a:tcPr marL="73152" marR="73152" marT="36576" marB="36576" anchor="ctr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F353A"/>
                          </a:solidFill>
                          <a:latin typeface="Aptos"/>
                        </a:rPr>
                        <a:t>1</a:t>
                      </a:r>
                    </a:p>
                  </a:txBody>
                  <a:tcPr marL="73152" marR="73152" marT="36576" marB="36576" anchor="ctr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F353A"/>
                          </a:solidFill>
                          <a:latin typeface="Aptos"/>
                        </a:rPr>
                        <a:t>134 – Karonga</a:t>
                      </a:r>
                    </a:p>
                  </a:txBody>
                  <a:tcPr marL="73152" marR="73152" marT="36576" marB="36576" anchor="ctr">
                    <a:solidFill>
                      <a:srgbClr val="F4F7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626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F353A"/>
                          </a:solidFill>
                          <a:latin typeface="Aptos"/>
                        </a:rPr>
                        <a:t>3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F353A"/>
                          </a:solidFill>
                          <a:latin typeface="Aptos"/>
                        </a:rPr>
                        <a:t>544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F353A"/>
                          </a:solidFill>
                          <a:latin typeface="Aptos"/>
                        </a:rPr>
                        <a:t>7.30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F353A"/>
                          </a:solidFill>
                          <a:latin typeface="Aptos"/>
                        </a:rPr>
                        <a:t>0.002%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F353A"/>
                          </a:solidFill>
                          <a:latin typeface="Aptos"/>
                        </a:rPr>
                        <a:t>Urban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F353A"/>
                          </a:solidFill>
                          <a:latin typeface="Aptos"/>
                        </a:rPr>
                        <a:t>2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F353A"/>
                          </a:solidFill>
                          <a:latin typeface="Aptos"/>
                        </a:rPr>
                        <a:t>131 – Mzuzu City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626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F353A"/>
                          </a:solidFill>
                          <a:latin typeface="Aptos"/>
                        </a:rPr>
                        <a:t>4</a:t>
                      </a:r>
                    </a:p>
                  </a:txBody>
                  <a:tcPr marL="73152" marR="73152" marT="36576" marB="36576" anchor="ctr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F353A"/>
                          </a:solidFill>
                          <a:latin typeface="Aptos"/>
                        </a:rPr>
                        <a:t>443</a:t>
                      </a:r>
                    </a:p>
                  </a:txBody>
                  <a:tcPr marL="73152" marR="73152" marT="36576" marB="36576" anchor="ctr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F353A"/>
                          </a:solidFill>
                          <a:latin typeface="Aptos"/>
                        </a:rPr>
                        <a:t>8.72</a:t>
                      </a:r>
                    </a:p>
                  </a:txBody>
                  <a:tcPr marL="73152" marR="73152" marT="36576" marB="36576" anchor="ctr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F353A"/>
                          </a:solidFill>
                          <a:latin typeface="Aptos"/>
                        </a:rPr>
                        <a:t>0.019%</a:t>
                      </a:r>
                    </a:p>
                  </a:txBody>
                  <a:tcPr marL="73152" marR="73152" marT="36576" marB="36576" anchor="ctr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F353A"/>
                          </a:solidFill>
                          <a:latin typeface="Aptos"/>
                        </a:rPr>
                        <a:t>Urban</a:t>
                      </a:r>
                    </a:p>
                  </a:txBody>
                  <a:tcPr marL="73152" marR="73152" marT="36576" marB="36576" anchor="ctr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F353A"/>
                          </a:solidFill>
                          <a:latin typeface="Aptos"/>
                        </a:rPr>
                        <a:t>7</a:t>
                      </a:r>
                    </a:p>
                  </a:txBody>
                  <a:tcPr marL="73152" marR="73152" marT="36576" marB="36576" anchor="ctr">
                    <a:solidFill>
                      <a:srgbClr val="F4F7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F353A"/>
                          </a:solidFill>
                          <a:latin typeface="Aptos"/>
                        </a:rPr>
                        <a:t>224 – Lilongwe City</a:t>
                      </a:r>
                    </a:p>
                  </a:txBody>
                  <a:tcPr marL="73152" marR="73152" marT="36576" marB="36576" anchor="ctr">
                    <a:solidFill>
                      <a:srgbClr val="F4F7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5626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F353A"/>
                          </a:solidFill>
                          <a:latin typeface="Aptos"/>
                        </a:rPr>
                        <a:t>5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F353A"/>
                          </a:solidFill>
                          <a:latin typeface="Aptos"/>
                        </a:rPr>
                        <a:t>322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F353A"/>
                          </a:solidFill>
                          <a:latin typeface="Aptos"/>
                        </a:rPr>
                        <a:t>9.19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F353A"/>
                          </a:solidFill>
                          <a:latin typeface="Aptos"/>
                        </a:rPr>
                        <a:t>0.001%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F353A"/>
                          </a:solidFill>
                          <a:latin typeface="Aptos"/>
                        </a:rPr>
                        <a:t>Urban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F353A"/>
                          </a:solidFill>
                          <a:latin typeface="Aptos"/>
                        </a:rPr>
                        <a:t>1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F353A"/>
                          </a:solidFill>
                          <a:latin typeface="Aptos"/>
                        </a:rPr>
                        <a:t>131 – Mzuzu City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02920" y="5166360"/>
            <a:ext cx="10789920" cy="38404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300" b="0">
                <a:solidFill>
                  <a:srgbClr val="646767"/>
                </a:solidFill>
                <a:latin typeface="Aptos"/>
              </a:rPr>
              <a:t>The largest fitted welfare in the full sample is 15.72 PPP/day.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5623560"/>
            <a:ext cx="1078992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300" b="0">
                <a:solidFill>
                  <a:srgbClr val="646767"/>
                </a:solidFill>
                <a:latin typeface="Aptos"/>
              </a:rPr>
              <a:t>Values are shown in levels, not logs. Fitted values use the with-intercept specification.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10528"/>
            <a:ext cx="640080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 b="0">
                <a:solidFill>
                  <a:srgbClr val="646767"/>
                </a:solidFill>
                <a:latin typeface="Aptos"/>
              </a:rPr>
              <a:t>Top-censoring analysis | Malawi 1997 deep dive</a:t>
            </a:r>
          </a:p>
        </p:txBody>
      </p:sp>
    </p:spTree>
    <p:extLst>
      <p:ext uri="{BB962C8B-B14F-4D97-AF65-F5344CB8AC3E}">
        <p14:creationId xmlns:p14="http://schemas.microsoft.com/office/powerpoint/2010/main" val="5718457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0040"/>
            <a:ext cx="10698480" cy="42165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lang="es-ES" sz="2600" b="1" err="1">
                <a:solidFill>
                  <a:srgbClr val="1E3043"/>
                </a:solidFill>
                <a:latin typeface="Aptos Display"/>
              </a:rPr>
              <a:t>Conclusion</a:t>
            </a:r>
            <a:r>
              <a:rPr sz="2600" b="1">
                <a:solidFill>
                  <a:srgbClr val="1E3043"/>
                </a:solidFill>
                <a:latin typeface="Aptos Display"/>
              </a:rPr>
              <a:t> and </a:t>
            </a:r>
            <a:r>
              <a:rPr lang="es-ES" sz="2600" b="1" err="1">
                <a:solidFill>
                  <a:srgbClr val="1E3043"/>
                </a:solidFill>
                <a:latin typeface="Aptos Display"/>
              </a:rPr>
              <a:t>discussion</a:t>
            </a:r>
            <a:endParaRPr lang="es-ES" err="1"/>
          </a:p>
        </p:txBody>
      </p:sp>
      <p:sp>
        <p:nvSpPr>
          <p:cNvPr id="3" name="Rectangle 2"/>
          <p:cNvSpPr/>
          <p:nvPr/>
        </p:nvSpPr>
        <p:spPr>
          <a:xfrm>
            <a:off x="502920" y="832104"/>
            <a:ext cx="1005840" cy="54864"/>
          </a:xfrm>
          <a:prstGeom prst="rect">
            <a:avLst/>
          </a:prstGeom>
          <a:solidFill>
            <a:srgbClr val="2F81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932688"/>
            <a:ext cx="10881360" cy="252377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500" b="0">
                <a:solidFill>
                  <a:srgbClr val="646767"/>
                </a:solidFill>
                <a:latin typeface="Aptos"/>
              </a:rPr>
              <a:t>The methods converge on influence and review, not automatic deletion.</a:t>
            </a:r>
            <a:endParaRPr lang="es-ES" sz="1400" b="0">
              <a:solidFill>
                <a:srgbClr val="646767"/>
              </a:solidFill>
              <a:latin typeface="Apto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475720" y="347472"/>
            <a:ext cx="502920" cy="221599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/>
            <a:r>
              <a:rPr lang="es-ES" sz="1200" b="1">
                <a:solidFill>
                  <a:srgbClr val="2F8177"/>
                </a:solidFill>
                <a:latin typeface="Aptos"/>
              </a:rPr>
              <a:t>12</a:t>
            </a:r>
            <a:endParaRPr sz="1200" b="1">
              <a:solidFill>
                <a:srgbClr val="2F8177"/>
              </a:solidFill>
              <a:latin typeface="Aptos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3246120" cy="1645920"/>
          </a:xfrm>
          <a:prstGeom prst="roundRect">
            <a:avLst/>
          </a:prstGeom>
          <a:solidFill>
            <a:srgbClr val="F2EFE8"/>
          </a:solidFill>
          <a:ln>
            <a:solidFill>
              <a:srgbClr val="D8D1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371600"/>
            <a:ext cx="73152" cy="1645920"/>
          </a:xfrm>
          <a:prstGeom prst="rect">
            <a:avLst/>
          </a:prstGeom>
          <a:solidFill>
            <a:srgbClr val="AD4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32688" y="1527048"/>
            <a:ext cx="2953512" cy="228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300" b="1">
                <a:solidFill>
                  <a:srgbClr val="646767"/>
                </a:solidFill>
                <a:latin typeface="Aptos"/>
              </a:rPr>
              <a:t>MAIN FINDING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1810512"/>
            <a:ext cx="2953512" cy="56692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800" b="1">
                <a:solidFill>
                  <a:srgbClr val="1E3043"/>
                </a:solidFill>
                <a:latin typeface="Aptos"/>
              </a:rPr>
              <a:t>Tail influence is real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432304"/>
            <a:ext cx="2953512" cy="585215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300" b="0">
                <a:solidFill>
                  <a:srgbClr val="2F353A"/>
                </a:solidFill>
                <a:latin typeface="Aptos"/>
              </a:rPr>
              <a:t>A very small group can dominate means and inequality measures.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1371600"/>
            <a:ext cx="3246120" cy="1645920"/>
          </a:xfrm>
          <a:prstGeom prst="roundRect">
            <a:avLst/>
          </a:prstGeom>
          <a:solidFill>
            <a:srgbClr val="F2EFE8"/>
          </a:solidFill>
          <a:ln>
            <a:solidFill>
              <a:srgbClr val="D8D1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480560" y="1371600"/>
            <a:ext cx="73152" cy="1645920"/>
          </a:xfrm>
          <a:prstGeom prst="rect">
            <a:avLst/>
          </a:prstGeom>
          <a:solidFill>
            <a:srgbClr val="2F81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681728" y="1527048"/>
            <a:ext cx="2953512" cy="228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300" b="1">
                <a:solidFill>
                  <a:srgbClr val="646767"/>
                </a:solidFill>
                <a:latin typeface="Aptos"/>
              </a:rPr>
              <a:t>ROBUSTNESS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81728" y="1810512"/>
            <a:ext cx="2953512" cy="56692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800" b="1">
                <a:solidFill>
                  <a:srgbClr val="1E3043"/>
                </a:solidFill>
                <a:latin typeface="Aptos"/>
              </a:rPr>
              <a:t>Methods agree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81728" y="2432304"/>
            <a:ext cx="2953512" cy="585215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300" b="0">
                <a:solidFill>
                  <a:srgbClr val="2F353A"/>
                </a:solidFill>
                <a:latin typeface="Aptos"/>
              </a:rPr>
              <a:t>LIS, outdetect, Pareto, GB2 and regression identify Malawi 1997 as a priority case.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0" y="1371600"/>
            <a:ext cx="3246120" cy="1645920"/>
          </a:xfrm>
          <a:prstGeom prst="roundRect">
            <a:avLst/>
          </a:prstGeom>
          <a:solidFill>
            <a:srgbClr val="F2EFE8"/>
          </a:solidFill>
          <a:ln>
            <a:solidFill>
              <a:srgbClr val="D8D1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229600" y="1371600"/>
            <a:ext cx="73152" cy="1645920"/>
          </a:xfrm>
          <a:prstGeom prst="rect">
            <a:avLst/>
          </a:prstGeom>
          <a:solidFill>
            <a:srgbClr val="2C69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430768" y="1527048"/>
            <a:ext cx="2953512" cy="228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300" b="1">
                <a:solidFill>
                  <a:srgbClr val="646767"/>
                </a:solidFill>
                <a:latin typeface="Aptos"/>
              </a:rPr>
              <a:t>RECOMMENDATION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30768" y="1810512"/>
            <a:ext cx="2953512" cy="56692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800" b="1">
                <a:solidFill>
                  <a:srgbClr val="1E3043"/>
                </a:solidFill>
                <a:latin typeface="Aptos"/>
              </a:rPr>
              <a:t>Treat, do not delete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30768" y="2432304"/>
            <a:ext cx="2953512" cy="585215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300" b="0">
                <a:solidFill>
                  <a:srgbClr val="2F353A"/>
                </a:solidFill>
                <a:latin typeface="Aptos"/>
              </a:rPr>
              <a:t>Report the baseline and transparent top-tail sensitivity results together.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6510528"/>
            <a:ext cx="6400800" cy="16459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900" b="0">
                <a:solidFill>
                  <a:srgbClr val="646767"/>
                </a:solidFill>
                <a:latin typeface="Aptos"/>
              </a:rPr>
              <a:t>Top-censoring analysis | Malawi 1997 deep dive</a:t>
            </a:r>
          </a:p>
        </p:txBody>
      </p:sp>
      <p:sp>
        <p:nvSpPr>
          <p:cNvPr id="29" name="TextBox 24">
            <a:extLst>
              <a:ext uri="{FF2B5EF4-FFF2-40B4-BE49-F238E27FC236}">
                <a16:creationId xmlns:a16="http://schemas.microsoft.com/office/drawing/2014/main" id="{FDA388D1-E3B6-8303-9C91-066CD26CC282}"/>
              </a:ext>
            </a:extLst>
          </p:cNvPr>
          <p:cNvSpPr txBox="1"/>
          <p:nvPr/>
        </p:nvSpPr>
        <p:spPr>
          <a:xfrm>
            <a:off x="637213" y="3537339"/>
            <a:ext cx="10891620" cy="225292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r>
              <a:rPr sz="1200" b="1">
                <a:solidFill>
                  <a:srgbClr val="646767"/>
                </a:solidFill>
                <a:latin typeface="Aptos"/>
              </a:rPr>
              <a:t>OPEN QUESTIONS FOR DISCUSSION</a:t>
            </a:r>
            <a:endParaRPr lang="es-ES" sz="2400">
              <a:solidFill>
                <a:srgbClr val="C00000"/>
              </a:solidFill>
              <a:latin typeface="Calibri"/>
              <a:ea typeface="Calibri"/>
              <a:cs typeface="Calibri"/>
            </a:endParaRPr>
          </a:p>
          <a:p>
            <a:pPr>
              <a:spcBef>
                <a:spcPts val="800"/>
              </a:spcBef>
            </a:pPr>
            <a:r>
              <a:rPr sz="1600" b="0">
                <a:solidFill>
                  <a:srgbClr val="2F353A"/>
                </a:solidFill>
                <a:latin typeface="Aptos"/>
              </a:rPr>
              <a:t>•  Are there other methods or strategies to identify outliers that we should evaluate?</a:t>
            </a:r>
          </a:p>
          <a:p>
            <a:pPr>
              <a:spcBef>
                <a:spcPts val="800"/>
              </a:spcBef>
            </a:pPr>
            <a:r>
              <a:rPr sz="1600" b="0">
                <a:solidFill>
                  <a:srgbClr val="2F353A"/>
                </a:solidFill>
                <a:latin typeface="Aptos"/>
              </a:rPr>
              <a:t>•  What should be done with flagged outliers: top-code, impute, or something else?</a:t>
            </a:r>
          </a:p>
          <a:p>
            <a:pPr>
              <a:spcBef>
                <a:spcPts val="800"/>
              </a:spcBef>
            </a:pPr>
            <a:r>
              <a:rPr sz="1600" b="0">
                <a:solidFill>
                  <a:srgbClr val="2F353A"/>
                </a:solidFill>
                <a:latin typeface="Aptos"/>
              </a:rPr>
              <a:t>•  Is it feasible to build outlier detection into the data-loading pipeline?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Panorámica</PresentationFormat>
  <Slides>13</Slides>
  <Notes>2</Notes>
  <HiddenSlides>0</HiddenSlide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13</vt:i4>
      </vt:variant>
    </vt:vector>
  </HeadingPairs>
  <TitlesOfParts>
    <vt:vector size="14" baseType="lpstr"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revision>4</cp:revision>
  <dcterms:created xsi:type="dcterms:W3CDTF">2013-01-27T09:14:16Z</dcterms:created>
  <dcterms:modified xsi:type="dcterms:W3CDTF">2026-09-17T17:41:20Z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f1bf45b6-5649-4236-82a3-f45024cd282e_Enabled">
    <vt:lpwstr>true</vt:lpwstr>
  </property>
  <property fmtid="{D5CDD505-2E9C-101B-9397-08002B2CF9AE}" pid="3" name="MSIP_Label_f1bf45b6-5649-4236-82a3-f45024cd282e_SetDate">
    <vt:lpwstr>2026-09-12T22:52:02Z</vt:lpwstr>
  </property>
  <property fmtid="{D5CDD505-2E9C-101B-9397-08002B2CF9AE}" pid="4" name="MSIP_Label_f1bf45b6-5649-4236-82a3-f45024cd282e_Method">
    <vt:lpwstr>Standard</vt:lpwstr>
  </property>
  <property fmtid="{D5CDD505-2E9C-101B-9397-08002B2CF9AE}" pid="5" name="MSIP_Label_f1bf45b6-5649-4236-82a3-f45024cd282e_Name">
    <vt:lpwstr>Official Use Only</vt:lpwstr>
  </property>
  <property fmtid="{D5CDD505-2E9C-101B-9397-08002B2CF9AE}" pid="6" name="MSIP_Label_f1bf45b6-5649-4236-82a3-f45024cd282e_SiteId">
    <vt:lpwstr>31a2fec0-266b-4c67-b56e-2796d8f59c36</vt:lpwstr>
  </property>
  <property fmtid="{D5CDD505-2E9C-101B-9397-08002B2CF9AE}" pid="7" name="MSIP_Label_f1bf45b6-5649-4236-82a3-f45024cd282e_ActionId">
    <vt:lpwstr>d44c3bb2-ce39-41d5-928a-dfed20b6b965</vt:lpwstr>
  </property>
  <property fmtid="{D5CDD505-2E9C-101B-9397-08002B2CF9AE}" pid="8" name="MSIP_Label_f1bf45b6-5649-4236-82a3-f45024cd282e_ContentBits">
    <vt:lpwstr>2</vt:lpwstr>
  </property>
  <property fmtid="{D5CDD505-2E9C-101B-9397-08002B2CF9AE}" pid="9" name="MSIP_Label_f1bf45b6-5649-4236-82a3-f45024cd282e_Tag">
    <vt:lpwstr>10, 3, 0, 1</vt:lpwstr>
  </property>
  <property fmtid="{D5CDD505-2E9C-101B-9397-08002B2CF9AE}" pid="10" name="ClassificationContentMarkingFooterLocations">
    <vt:lpwstr>Office Theme:8</vt:lpwstr>
  </property>
  <property fmtid="{D5CDD505-2E9C-101B-9397-08002B2CF9AE}" pid="11" name="ClassificationContentMarkingFooterText">
    <vt:lpwstr>Official Use Only</vt:lpwstr>
  </property>
</Properties>
</file>